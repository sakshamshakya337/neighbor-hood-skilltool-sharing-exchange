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sakshamshakya337/Neighbor-hood-SkillTool-Sharing-Exchange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7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9692640" y="-1463040"/>
            <a:ext cx="4754881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10698480" y="4297679"/>
            <a:ext cx="3108961" cy="3108961"/>
          </a:xfrm>
          <a:prstGeom prst="ellipse">
            <a:avLst/>
          </a:prstGeom>
          <a:solidFill>
            <a:srgbClr val="00A896">
              <a:alpha val="5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-1280161" y="5120640"/>
            <a:ext cx="3291842" cy="3291841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640080" y="502919"/>
            <a:ext cx="2834640" cy="384049"/>
          </a:xfrm>
          <a:prstGeom prst="roundRect">
            <a:avLst>
              <a:gd name="adj" fmla="val 50000"/>
            </a:avLst>
          </a:prstGeom>
          <a:solidFill>
            <a:srgbClr val="00A896">
              <a:alpha val="8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640080" y="627810"/>
            <a:ext cx="28346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100">
                <a:solidFill>
                  <a:srgbClr val="FFFFFF"/>
                </a:solidFill>
              </a:defRPr>
            </a:lvl1pPr>
          </a:lstStyle>
          <a:p>
            <a:pPr/>
            <a:r>
              <a:t>PROJECT REPORT · MERN STACK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640079" y="1811336"/>
            <a:ext cx="8778242" cy="1223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4999"/>
              </a:lnSpc>
              <a:defRPr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Neighborhood Skill</a:t>
            </a:r>
          </a:p>
          <a:p>
            <a:pPr>
              <a:lnSpc>
                <a:spcPct val="104999"/>
              </a:lnSpc>
              <a:defRPr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&amp; Tool Sharing Exchange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640079" y="3494340"/>
            <a:ext cx="78638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CFEDEA"/>
                </a:solidFill>
              </a:defRPr>
            </a:lvl1pPr>
          </a:lstStyle>
          <a:p>
            <a:pPr/>
            <a:r>
              <a:t>A secure, hyper-local peer-to-peer platform for renting tools and sharing skills within a verified neighborhood.</a:t>
            </a:r>
          </a:p>
        </p:txBody>
      </p:sp>
      <p:sp>
        <p:nvSpPr>
          <p:cNvPr id="27" name="Shape 7"/>
          <p:cNvSpPr/>
          <p:nvPr/>
        </p:nvSpPr>
        <p:spPr>
          <a:xfrm>
            <a:off x="640080" y="4114800"/>
            <a:ext cx="3291841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8"/>
          <p:cNvSpPr txBox="1"/>
          <p:nvPr/>
        </p:nvSpPr>
        <p:spPr>
          <a:xfrm>
            <a:off x="640079" y="4287827"/>
            <a:ext cx="329184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07272B"/>
                </a:solidFill>
              </a:defRPr>
            </a:lvl1pPr>
          </a:lstStyle>
          <a:p>
            <a:pPr/>
            <a:r>
              <a:t>GROUP NAME: TEAM NEIGHBORSHARE</a:t>
            </a:r>
          </a:p>
        </p:txBody>
      </p:sp>
      <p:sp>
        <p:nvSpPr>
          <p:cNvPr id="29" name="Shape 9"/>
          <p:cNvSpPr/>
          <p:nvPr/>
        </p:nvSpPr>
        <p:spPr>
          <a:xfrm>
            <a:off x="640080" y="4800600"/>
            <a:ext cx="5120641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ext 10"/>
          <p:cNvSpPr txBox="1"/>
          <p:nvPr/>
        </p:nvSpPr>
        <p:spPr>
          <a:xfrm>
            <a:off x="868680" y="4960664"/>
            <a:ext cx="2743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02C39A"/>
                </a:solidFill>
              </a:defRPr>
            </a:lvl1pPr>
          </a:lstStyle>
          <a:p>
            <a:pPr/>
            <a:r>
              <a:t>SUBMITTED BY</a:t>
            </a:r>
          </a:p>
        </p:txBody>
      </p:sp>
      <p:sp>
        <p:nvSpPr>
          <p:cNvPr id="31" name="Text 11"/>
          <p:cNvSpPr txBox="1"/>
          <p:nvPr/>
        </p:nvSpPr>
        <p:spPr>
          <a:xfrm>
            <a:off x="868679" y="5138928"/>
            <a:ext cx="4663442" cy="851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52400" indent="-152400">
              <a:lnSpc>
                <a:spcPct val="115000"/>
              </a:lnSpc>
              <a:buSzPct val="100000"/>
              <a:buChar char="▪"/>
              <a:defRPr sz="1300">
                <a:solidFill>
                  <a:srgbClr val="FFFFFF"/>
                </a:solidFill>
              </a:defRPr>
            </a:pPr>
            <a:r>
              <a:t>Rahul Rathod — 12508547</a:t>
            </a:r>
          </a:p>
          <a:p>
            <a:pPr marL="152400" indent="-152400">
              <a:lnSpc>
                <a:spcPct val="115000"/>
              </a:lnSpc>
              <a:buSzPct val="100000"/>
              <a:buChar char="▪"/>
              <a:defRPr sz="1300">
                <a:solidFill>
                  <a:srgbClr val="FFFFFF"/>
                </a:solidFill>
              </a:defRPr>
            </a:pPr>
            <a:r>
              <a:t>Sujal Bhatia — 12502429</a:t>
            </a:r>
          </a:p>
          <a:p>
            <a:pPr marL="152400" indent="-152400">
              <a:lnSpc>
                <a:spcPct val="115000"/>
              </a:lnSpc>
              <a:buSzPct val="100000"/>
              <a:buChar char="▪"/>
              <a:defRPr sz="1300">
                <a:solidFill>
                  <a:srgbClr val="FFFFFF"/>
                </a:solidFill>
              </a:defRPr>
            </a:pPr>
            <a:r>
              <a:t>Ansh Bhatia — 12502420</a:t>
            </a:r>
          </a:p>
          <a:p>
            <a:pPr marL="152400" indent="-152400">
              <a:lnSpc>
                <a:spcPct val="115000"/>
              </a:lnSpc>
              <a:buSzPct val="100000"/>
              <a:buChar char="▪"/>
              <a:defRPr sz="1300">
                <a:solidFill>
                  <a:srgbClr val="FFFFFF"/>
                </a:solidFill>
              </a:defRPr>
            </a:pPr>
            <a:r>
              <a:t>Saksham Shakya — 12502712</a:t>
            </a:r>
          </a:p>
        </p:txBody>
      </p:sp>
      <p:sp>
        <p:nvSpPr>
          <p:cNvPr id="32" name="Shape 12"/>
          <p:cNvSpPr/>
          <p:nvPr/>
        </p:nvSpPr>
        <p:spPr>
          <a:xfrm>
            <a:off x="9006840" y="4572000"/>
            <a:ext cx="2542033" cy="1828800"/>
          </a:xfrm>
          <a:prstGeom prst="roundRect">
            <a:avLst>
              <a:gd name="adj" fmla="val 4000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13"/>
          <p:cNvSpPr txBox="1"/>
          <p:nvPr/>
        </p:nvSpPr>
        <p:spPr>
          <a:xfrm>
            <a:off x="9189719" y="4736591"/>
            <a:ext cx="2194561" cy="1398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BFEAE6"/>
                </a:solidFill>
              </a:defRPr>
            </a:pPr>
            <a:r>
              <a:t>Course Code</a:t>
            </a:r>
          </a:p>
          <a:p>
            <a:pPr>
              <a:defRPr b="1" sz="1000">
                <a:solidFill>
                  <a:srgbClr val="BFEAE6"/>
                </a:solidFill>
              </a:defRPr>
            </a:pP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SCA002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</a:p>
          <a:p>
            <a:pPr>
              <a:defRPr b="1" sz="1300">
                <a:solidFill>
                  <a:srgbClr val="FFFFFF"/>
                </a:solidFill>
              </a:defRPr>
            </a:pPr>
            <a:endParaRPr sz="1000"/>
          </a:p>
          <a:p>
            <a:pPr>
              <a:defRPr b="1" sz="1000">
                <a:solidFill>
                  <a:srgbClr val="BFEAE6"/>
                </a:solidFill>
              </a:defRPr>
            </a:pPr>
            <a:r>
              <a:t>Guided by</a:t>
            </a:r>
          </a:p>
          <a:p>
            <a:pPr>
              <a:defRPr b="1" sz="1000">
                <a:solidFill>
                  <a:srgbClr val="BFEAE6"/>
                </a:solidFill>
              </a:defRPr>
            </a:pP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Bharath Reddy</a:t>
            </a:r>
          </a:p>
        </p:txBody>
      </p:sp>
      <p:sp>
        <p:nvSpPr>
          <p:cNvPr id="34" name="Text 14"/>
          <p:cNvSpPr txBox="1"/>
          <p:nvPr/>
        </p:nvSpPr>
        <p:spPr>
          <a:xfrm>
            <a:off x="640080" y="6538004"/>
            <a:ext cx="8229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FC9C5"/>
                </a:solidFill>
              </a:defRPr>
            </a:lvl1pPr>
          </a:lstStyle>
          <a:p>
            <a:pPr/>
            <a:r>
              <a:t>School of Computer Application · Lovely Professional University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548640" y="457200"/>
            <a:ext cx="2377440" cy="32918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1"/>
          <p:cNvSpPr txBox="1"/>
          <p:nvPr/>
        </p:nvSpPr>
        <p:spPr>
          <a:xfrm>
            <a:off x="548640" y="554658"/>
            <a:ext cx="23774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100">
                <a:solidFill>
                  <a:srgbClr val="FFFFFF"/>
                </a:solidFill>
              </a:defRPr>
            </a:lvl1pPr>
          </a:lstStyle>
          <a:p>
            <a:pPr/>
            <a:r>
              <a:t>ABSTRACT</a:t>
            </a:r>
          </a:p>
        </p:txBody>
      </p:sp>
      <p:sp>
        <p:nvSpPr>
          <p:cNvPr id="38" name="Text 2"/>
          <p:cNvSpPr txBox="1"/>
          <p:nvPr/>
        </p:nvSpPr>
        <p:spPr>
          <a:xfrm>
            <a:off x="548640" y="1012951"/>
            <a:ext cx="105156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0B2E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Turning Idle Tools &amp; Idle Time Into a Local Economy</a:t>
            </a:r>
          </a:p>
        </p:txBody>
      </p:sp>
      <p:sp>
        <p:nvSpPr>
          <p:cNvPr id="39" name="Text 3"/>
          <p:cNvSpPr txBox="1"/>
          <p:nvPr/>
        </p:nvSpPr>
        <p:spPr>
          <a:xfrm>
            <a:off x="548639" y="1600200"/>
            <a:ext cx="6446522" cy="4146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300">
                <a:solidFill>
                  <a:srgbClr val="0B2E32"/>
                </a:solidFill>
              </a:defRPr>
            </a:lvl1pPr>
          </a:lstStyle>
          <a:p>
            <a:pPr/>
            <a:r>
              <a:t>In modern neighborhoods, people often own expensive tools or hold specialized skills that sit unused, while others nearby need exactly those resources for short-term tasks. NeighborShare bridges this gap with a full-stack MERN application that lets verified neighbors rent physical tools and offer professional or casual skills within a secure, community-driven ecosystem — reducing consumption, cutting costs, and strengthening local bonds.</a:t>
            </a:r>
          </a:p>
        </p:txBody>
      </p:sp>
      <p:sp>
        <p:nvSpPr>
          <p:cNvPr id="40" name="Shape 4"/>
          <p:cNvSpPr/>
          <p:nvPr/>
        </p:nvSpPr>
        <p:spPr>
          <a:xfrm>
            <a:off x="7315200" y="1600200"/>
            <a:ext cx="434340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Shape 5"/>
          <p:cNvSpPr/>
          <p:nvPr/>
        </p:nvSpPr>
        <p:spPr>
          <a:xfrm>
            <a:off x="7479792" y="1764792"/>
            <a:ext cx="128017" cy="749809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6"/>
          <p:cNvSpPr txBox="1"/>
          <p:nvPr/>
        </p:nvSpPr>
        <p:spPr>
          <a:xfrm>
            <a:off x="7726680" y="1754563"/>
            <a:ext cx="379476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28090"/>
                </a:solidFill>
              </a:defRPr>
            </a:lvl1pPr>
          </a:lstStyle>
          <a:p>
            <a:pPr/>
            <a:r>
              <a:t>Booking &amp; Availability</a:t>
            </a:r>
          </a:p>
        </p:txBody>
      </p:sp>
      <p:sp>
        <p:nvSpPr>
          <p:cNvPr id="43" name="Text 7"/>
          <p:cNvSpPr txBox="1"/>
          <p:nvPr/>
        </p:nvSpPr>
        <p:spPr>
          <a:xfrm>
            <a:off x="7726680" y="2146349"/>
            <a:ext cx="3840481" cy="31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B7A7D"/>
                </a:solidFill>
              </a:defRPr>
            </a:lvl1pPr>
          </a:lstStyle>
          <a:p>
            <a:pPr/>
            <a:r>
              <a:t>Browse, request, approve, and manage tool and skill bookings with real-time conflict prevention.</a:t>
            </a:r>
          </a:p>
        </p:txBody>
      </p:sp>
      <p:sp>
        <p:nvSpPr>
          <p:cNvPr id="44" name="Shape 8"/>
          <p:cNvSpPr/>
          <p:nvPr/>
        </p:nvSpPr>
        <p:spPr>
          <a:xfrm>
            <a:off x="7315200" y="2807207"/>
            <a:ext cx="4343400" cy="1078993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Shape 9"/>
          <p:cNvSpPr/>
          <p:nvPr/>
        </p:nvSpPr>
        <p:spPr>
          <a:xfrm>
            <a:off x="7479792" y="2971800"/>
            <a:ext cx="128017" cy="749809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0"/>
          <p:cNvSpPr txBox="1"/>
          <p:nvPr/>
        </p:nvSpPr>
        <p:spPr>
          <a:xfrm>
            <a:off x="7726680" y="2961571"/>
            <a:ext cx="37947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28090"/>
                </a:solidFill>
              </a:defRPr>
            </a:lvl1pPr>
          </a:lstStyle>
          <a:p>
            <a:pPr/>
            <a:r>
              <a:t>Secure Payments &amp; Trust</a:t>
            </a:r>
          </a:p>
        </p:txBody>
      </p:sp>
      <p:sp>
        <p:nvSpPr>
          <p:cNvPr id="47" name="Text 11"/>
          <p:cNvSpPr txBox="1"/>
          <p:nvPr/>
        </p:nvSpPr>
        <p:spPr>
          <a:xfrm>
            <a:off x="7726680" y="3353357"/>
            <a:ext cx="3840481" cy="31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B7A7D"/>
                </a:solidFill>
              </a:defRPr>
            </a:lvl1pPr>
          </a:lstStyle>
          <a:p>
            <a:pPr/>
            <a:r>
              <a:t>Razorpay-powered deposits, rental fees, and a proprietary Trust Score with reviews.</a:t>
            </a:r>
          </a:p>
        </p:txBody>
      </p:sp>
      <p:sp>
        <p:nvSpPr>
          <p:cNvPr id="48" name="Shape 12"/>
          <p:cNvSpPr/>
          <p:nvPr/>
        </p:nvSpPr>
        <p:spPr>
          <a:xfrm>
            <a:off x="7315200" y="4014215"/>
            <a:ext cx="4343400" cy="1078993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Shape 13"/>
          <p:cNvSpPr/>
          <p:nvPr/>
        </p:nvSpPr>
        <p:spPr>
          <a:xfrm>
            <a:off x="7479792" y="4178808"/>
            <a:ext cx="128017" cy="749809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14"/>
          <p:cNvSpPr txBox="1"/>
          <p:nvPr/>
        </p:nvSpPr>
        <p:spPr>
          <a:xfrm>
            <a:off x="7726680" y="4168579"/>
            <a:ext cx="379476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28090"/>
                </a:solidFill>
              </a:defRPr>
            </a:lvl1pPr>
          </a:lstStyle>
          <a:p>
            <a:pPr/>
            <a:r>
              <a:t>Real-Time Communication</a:t>
            </a:r>
          </a:p>
        </p:txBody>
      </p:sp>
      <p:sp>
        <p:nvSpPr>
          <p:cNvPr id="51" name="Text 15"/>
          <p:cNvSpPr txBox="1"/>
          <p:nvPr/>
        </p:nvSpPr>
        <p:spPr>
          <a:xfrm>
            <a:off x="7726680" y="4560365"/>
            <a:ext cx="3840481" cy="31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B7A7D"/>
                </a:solidFill>
              </a:defRPr>
            </a:lvl1pPr>
          </a:lstStyle>
          <a:p>
            <a:pPr/>
            <a:r>
              <a:t>Socket.io chat lets neighbors coordinate logistics without sharing phone numbers.</a:t>
            </a:r>
          </a:p>
        </p:txBody>
      </p:sp>
      <p:sp>
        <p:nvSpPr>
          <p:cNvPr id="52" name="Shape 16"/>
          <p:cNvSpPr/>
          <p:nvPr/>
        </p:nvSpPr>
        <p:spPr>
          <a:xfrm>
            <a:off x="7315200" y="5221223"/>
            <a:ext cx="4343400" cy="1078993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Shape 17"/>
          <p:cNvSpPr/>
          <p:nvPr/>
        </p:nvSpPr>
        <p:spPr>
          <a:xfrm>
            <a:off x="7479792" y="5385815"/>
            <a:ext cx="128017" cy="749809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18"/>
          <p:cNvSpPr txBox="1"/>
          <p:nvPr/>
        </p:nvSpPr>
        <p:spPr>
          <a:xfrm>
            <a:off x="7726680" y="5375587"/>
            <a:ext cx="379476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28090"/>
                </a:solidFill>
              </a:defRPr>
            </a:lvl1pPr>
          </a:lstStyle>
          <a:p>
            <a:pPr/>
            <a:r>
              <a:t>Admin Moderation</a:t>
            </a:r>
          </a:p>
        </p:txBody>
      </p:sp>
      <p:sp>
        <p:nvSpPr>
          <p:cNvPr id="55" name="Text 19"/>
          <p:cNvSpPr txBox="1"/>
          <p:nvPr/>
        </p:nvSpPr>
        <p:spPr>
          <a:xfrm>
            <a:off x="7726680" y="5767372"/>
            <a:ext cx="3840481" cy="315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000">
                <a:solidFill>
                  <a:srgbClr val="5B7A7D"/>
                </a:solidFill>
              </a:defRPr>
            </a:lvl1pPr>
          </a:lstStyle>
          <a:p>
            <a:pPr/>
            <a:r>
              <a:t>A dedicated dashboard for oversight, dispute resolution, and account enforcement.</a:t>
            </a:r>
          </a:p>
        </p:txBody>
      </p:sp>
      <p:sp>
        <p:nvSpPr>
          <p:cNvPr id="56" name="Text 25"/>
          <p:cNvSpPr txBox="1"/>
          <p:nvPr/>
        </p:nvSpPr>
        <p:spPr>
          <a:xfrm>
            <a:off x="3246120" y="6152388"/>
            <a:ext cx="2514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50" sz="900">
                <a:solidFill>
                  <a:srgbClr val="FFFFFF"/>
                </a:solidFill>
              </a:defRPr>
            </a:lvl1pPr>
          </a:lstStyle>
          <a:p>
            <a:pPr/>
            <a:r>
              <a:t>FULL STACK</a:t>
            </a:r>
          </a:p>
        </p:txBody>
      </p:sp>
      <p:sp>
        <p:nvSpPr>
          <p:cNvPr id="57" name="Text 28"/>
          <p:cNvSpPr txBox="1"/>
          <p:nvPr/>
        </p:nvSpPr>
        <p:spPr>
          <a:xfrm>
            <a:off x="5728139" y="6584188"/>
            <a:ext cx="2514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50" sz="900">
                <a:solidFill>
                  <a:srgbClr val="FFFFFF"/>
                </a:solidFill>
              </a:defRPr>
            </a:lvl1pPr>
          </a:lstStyle>
          <a:p>
            <a:pPr/>
            <a:r>
              <a:t>TEAM MEMBERS</a:t>
            </a:r>
          </a:p>
        </p:txBody>
      </p:sp>
      <p:sp>
        <p:nvSpPr>
          <p:cNvPr id="58" name="Text 32"/>
          <p:cNvSpPr txBox="1"/>
          <p:nvPr/>
        </p:nvSpPr>
        <p:spPr>
          <a:xfrm>
            <a:off x="457200" y="6584188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7A7D"/>
                </a:solidFill>
              </a:defRPr>
            </a:lvl1pPr>
          </a:lstStyle>
          <a:p>
            <a:pPr/>
            <a:r>
              <a:t>Neighborhood Skill &amp; Tool Sharing Exchange</a:t>
            </a:r>
          </a:p>
        </p:txBody>
      </p:sp>
      <p:sp>
        <p:nvSpPr>
          <p:cNvPr id="59" name="Text 33"/>
          <p:cNvSpPr txBox="1"/>
          <p:nvPr/>
        </p:nvSpPr>
        <p:spPr>
          <a:xfrm>
            <a:off x="11429999" y="6584188"/>
            <a:ext cx="365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7A7D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548640" y="457200"/>
            <a:ext cx="2377440" cy="32918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"/>
          <p:cNvSpPr txBox="1"/>
          <p:nvPr/>
        </p:nvSpPr>
        <p:spPr>
          <a:xfrm>
            <a:off x="548640" y="554658"/>
            <a:ext cx="23774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100">
                <a:solidFill>
                  <a:srgbClr val="FFFFFF"/>
                </a:solidFill>
              </a:defRPr>
            </a:lvl1pPr>
          </a:lstStyle>
          <a:p>
            <a:pPr/>
            <a:r>
              <a:t>TECH STACK</a:t>
            </a:r>
          </a:p>
        </p:txBody>
      </p:sp>
      <p:sp>
        <p:nvSpPr>
          <p:cNvPr id="63" name="Text 2"/>
          <p:cNvSpPr txBox="1"/>
          <p:nvPr/>
        </p:nvSpPr>
        <p:spPr>
          <a:xfrm>
            <a:off x="548639" y="1002791"/>
            <a:ext cx="107899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>
                <a:solidFill>
                  <a:srgbClr val="0B2E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Built on the MERN Stack, Optimized with Modern Tooling</a:t>
            </a:r>
          </a:p>
        </p:txBody>
      </p:sp>
      <p:sp>
        <p:nvSpPr>
          <p:cNvPr id="64" name="Shape 3"/>
          <p:cNvSpPr/>
          <p:nvPr/>
        </p:nvSpPr>
        <p:spPr>
          <a:xfrm>
            <a:off x="548640" y="1691639"/>
            <a:ext cx="5440680" cy="4480561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hape 4"/>
          <p:cNvSpPr/>
          <p:nvPr/>
        </p:nvSpPr>
        <p:spPr>
          <a:xfrm>
            <a:off x="548640" y="1691639"/>
            <a:ext cx="5440680" cy="566929"/>
          </a:xfrm>
          <a:prstGeom prst="roundRect">
            <a:avLst>
              <a:gd name="adj" fmla="val 14516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5"/>
          <p:cNvSpPr txBox="1"/>
          <p:nvPr/>
        </p:nvSpPr>
        <p:spPr>
          <a:xfrm>
            <a:off x="822959" y="1881825"/>
            <a:ext cx="493776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67" name="Shape 6"/>
          <p:cNvSpPr/>
          <p:nvPr/>
        </p:nvSpPr>
        <p:spPr>
          <a:xfrm>
            <a:off x="822960" y="2468879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7"/>
          <p:cNvSpPr txBox="1"/>
          <p:nvPr/>
        </p:nvSpPr>
        <p:spPr>
          <a:xfrm>
            <a:off x="1097280" y="2408735"/>
            <a:ext cx="4709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E32"/>
                </a:solidFill>
              </a:defRPr>
            </a:lvl1pPr>
          </a:lstStyle>
          <a:p>
            <a:pPr/>
            <a:r>
              <a:t>React 19 &amp; React Router v7</a:t>
            </a:r>
          </a:p>
        </p:txBody>
      </p:sp>
      <p:sp>
        <p:nvSpPr>
          <p:cNvPr id="69" name="Text 8"/>
          <p:cNvSpPr txBox="1"/>
          <p:nvPr/>
        </p:nvSpPr>
        <p:spPr>
          <a:xfrm>
            <a:off x="1097280" y="2674664"/>
            <a:ext cx="4709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7A7D"/>
                </a:solidFill>
              </a:defRPr>
            </a:lvl1pPr>
          </a:lstStyle>
          <a:p>
            <a:pPr/>
            <a:r>
              <a:t>Component-based SPA with client-side routing</a:t>
            </a:r>
          </a:p>
        </p:txBody>
      </p:sp>
      <p:sp>
        <p:nvSpPr>
          <p:cNvPr id="70" name="Shape 9"/>
          <p:cNvSpPr/>
          <p:nvPr/>
        </p:nvSpPr>
        <p:spPr>
          <a:xfrm>
            <a:off x="822960" y="3090672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10"/>
          <p:cNvSpPr txBox="1"/>
          <p:nvPr/>
        </p:nvSpPr>
        <p:spPr>
          <a:xfrm>
            <a:off x="1097280" y="3030527"/>
            <a:ext cx="4709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E32"/>
                </a:solidFill>
              </a:defRPr>
            </a:lvl1pPr>
          </a:lstStyle>
          <a:p>
            <a:pPr/>
            <a:r>
              <a:t>Vite</a:t>
            </a:r>
          </a:p>
        </p:txBody>
      </p:sp>
      <p:sp>
        <p:nvSpPr>
          <p:cNvPr id="72" name="Text 11"/>
          <p:cNvSpPr txBox="1"/>
          <p:nvPr/>
        </p:nvSpPr>
        <p:spPr>
          <a:xfrm>
            <a:off x="1097280" y="3296456"/>
            <a:ext cx="4709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7A7D"/>
                </a:solidFill>
              </a:defRPr>
            </a:lvl1pPr>
          </a:lstStyle>
          <a:p>
            <a:pPr/>
            <a:r>
              <a:t>Next-generation, ultra-fast frontend build tooling</a:t>
            </a:r>
          </a:p>
        </p:txBody>
      </p:sp>
      <p:sp>
        <p:nvSpPr>
          <p:cNvPr id="73" name="Shape 12"/>
          <p:cNvSpPr/>
          <p:nvPr/>
        </p:nvSpPr>
        <p:spPr>
          <a:xfrm>
            <a:off x="822960" y="3712464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13"/>
          <p:cNvSpPr txBox="1"/>
          <p:nvPr/>
        </p:nvSpPr>
        <p:spPr>
          <a:xfrm>
            <a:off x="1097280" y="3652319"/>
            <a:ext cx="4709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E32"/>
                </a:solidFill>
              </a:defRPr>
            </a:lvl1pPr>
          </a:lstStyle>
          <a:p>
            <a:pPr/>
            <a:r>
              <a:t>Tailwind CSS v4</a:t>
            </a:r>
          </a:p>
        </p:txBody>
      </p:sp>
      <p:sp>
        <p:nvSpPr>
          <p:cNvPr id="75" name="Text 14"/>
          <p:cNvSpPr txBox="1"/>
          <p:nvPr/>
        </p:nvSpPr>
        <p:spPr>
          <a:xfrm>
            <a:off x="1097280" y="3918248"/>
            <a:ext cx="4709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7A7D"/>
                </a:solidFill>
              </a:defRPr>
            </a:lvl1pPr>
          </a:lstStyle>
          <a:p>
            <a:pPr/>
            <a:r>
              <a:t>Utility-first responsive styling</a:t>
            </a:r>
          </a:p>
        </p:txBody>
      </p:sp>
      <p:sp>
        <p:nvSpPr>
          <p:cNvPr id="76" name="Shape 15"/>
          <p:cNvSpPr/>
          <p:nvPr/>
        </p:nvSpPr>
        <p:spPr>
          <a:xfrm>
            <a:off x="822960" y="4334255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6"/>
          <p:cNvSpPr txBox="1"/>
          <p:nvPr/>
        </p:nvSpPr>
        <p:spPr>
          <a:xfrm>
            <a:off x="1097280" y="4274111"/>
            <a:ext cx="4709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E32"/>
                </a:solidFill>
              </a:defRPr>
            </a:lvl1pPr>
          </a:lstStyle>
          <a:p>
            <a:pPr/>
            <a:r>
              <a:t>Lucide React / React Icons</a:t>
            </a:r>
          </a:p>
        </p:txBody>
      </p:sp>
      <p:sp>
        <p:nvSpPr>
          <p:cNvPr id="78" name="Text 17"/>
          <p:cNvSpPr txBox="1"/>
          <p:nvPr/>
        </p:nvSpPr>
        <p:spPr>
          <a:xfrm>
            <a:off x="1097280" y="4540040"/>
            <a:ext cx="4709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7A7D"/>
                </a:solidFill>
              </a:defRPr>
            </a:lvl1pPr>
          </a:lstStyle>
          <a:p>
            <a:pPr/>
            <a:r>
              <a:t>Consistent iconography across the UI</a:t>
            </a:r>
          </a:p>
        </p:txBody>
      </p:sp>
      <p:sp>
        <p:nvSpPr>
          <p:cNvPr id="79" name="Shape 18"/>
          <p:cNvSpPr/>
          <p:nvPr/>
        </p:nvSpPr>
        <p:spPr>
          <a:xfrm>
            <a:off x="822960" y="4956047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9"/>
          <p:cNvSpPr txBox="1"/>
          <p:nvPr/>
        </p:nvSpPr>
        <p:spPr>
          <a:xfrm>
            <a:off x="1097280" y="4895903"/>
            <a:ext cx="4709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E32"/>
                </a:solidFill>
              </a:defRPr>
            </a:lvl1pPr>
          </a:lstStyle>
          <a:p>
            <a:pPr/>
            <a:r>
              <a:t>Socket.io-client</a:t>
            </a:r>
          </a:p>
        </p:txBody>
      </p:sp>
      <p:sp>
        <p:nvSpPr>
          <p:cNvPr id="81" name="Text 20"/>
          <p:cNvSpPr txBox="1"/>
          <p:nvPr/>
        </p:nvSpPr>
        <p:spPr>
          <a:xfrm>
            <a:off x="1097280" y="5161832"/>
            <a:ext cx="4709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7A7D"/>
                </a:solidFill>
              </a:defRPr>
            </a:lvl1pPr>
          </a:lstStyle>
          <a:p>
            <a:pPr/>
            <a:r>
              <a:t>Real-time chat &amp; notification updates</a:t>
            </a:r>
          </a:p>
        </p:txBody>
      </p:sp>
      <p:sp>
        <p:nvSpPr>
          <p:cNvPr id="82" name="Shape 21"/>
          <p:cNvSpPr/>
          <p:nvPr/>
        </p:nvSpPr>
        <p:spPr>
          <a:xfrm>
            <a:off x="822960" y="5577840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22"/>
          <p:cNvSpPr txBox="1"/>
          <p:nvPr/>
        </p:nvSpPr>
        <p:spPr>
          <a:xfrm>
            <a:off x="1097280" y="5517695"/>
            <a:ext cx="4709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E32"/>
                </a:solidFill>
              </a:defRPr>
            </a:lvl1pPr>
          </a:lstStyle>
          <a:p>
            <a:pPr/>
            <a:r>
              <a:t>Axios</a:t>
            </a:r>
          </a:p>
        </p:txBody>
      </p:sp>
      <p:sp>
        <p:nvSpPr>
          <p:cNvPr id="84" name="Text 23"/>
          <p:cNvSpPr txBox="1"/>
          <p:nvPr/>
        </p:nvSpPr>
        <p:spPr>
          <a:xfrm>
            <a:off x="1097280" y="5783624"/>
            <a:ext cx="4709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7A7D"/>
                </a:solidFill>
              </a:defRPr>
            </a:lvl1pPr>
          </a:lstStyle>
          <a:p>
            <a:pPr/>
            <a:r>
              <a:t>Promise-based API request handling</a:t>
            </a:r>
          </a:p>
        </p:txBody>
      </p:sp>
      <p:sp>
        <p:nvSpPr>
          <p:cNvPr id="85" name="Shape 24"/>
          <p:cNvSpPr/>
          <p:nvPr/>
        </p:nvSpPr>
        <p:spPr>
          <a:xfrm>
            <a:off x="6199632" y="1691639"/>
            <a:ext cx="5440680" cy="4480561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Shape 25"/>
          <p:cNvSpPr/>
          <p:nvPr/>
        </p:nvSpPr>
        <p:spPr>
          <a:xfrm>
            <a:off x="6199632" y="1691639"/>
            <a:ext cx="5440680" cy="566929"/>
          </a:xfrm>
          <a:prstGeom prst="roundRect">
            <a:avLst>
              <a:gd name="adj" fmla="val 14516"/>
            </a:avLst>
          </a:prstGeom>
          <a:solidFill>
            <a:srgbClr val="07272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26"/>
          <p:cNvSpPr txBox="1"/>
          <p:nvPr/>
        </p:nvSpPr>
        <p:spPr>
          <a:xfrm>
            <a:off x="6473952" y="1881825"/>
            <a:ext cx="493776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BACKEND</a:t>
            </a:r>
          </a:p>
        </p:txBody>
      </p:sp>
      <p:sp>
        <p:nvSpPr>
          <p:cNvPr id="88" name="Shape 27"/>
          <p:cNvSpPr/>
          <p:nvPr/>
        </p:nvSpPr>
        <p:spPr>
          <a:xfrm>
            <a:off x="6473952" y="2468879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28"/>
          <p:cNvSpPr txBox="1"/>
          <p:nvPr/>
        </p:nvSpPr>
        <p:spPr>
          <a:xfrm>
            <a:off x="6748272" y="2408735"/>
            <a:ext cx="4709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E32"/>
                </a:solidFill>
              </a:defRPr>
            </a:lvl1pPr>
          </a:lstStyle>
          <a:p>
            <a:pPr/>
            <a:r>
              <a:t>Node.js &amp; Express 5</a:t>
            </a:r>
          </a:p>
        </p:txBody>
      </p:sp>
      <p:sp>
        <p:nvSpPr>
          <p:cNvPr id="90" name="Text 29"/>
          <p:cNvSpPr txBox="1"/>
          <p:nvPr/>
        </p:nvSpPr>
        <p:spPr>
          <a:xfrm>
            <a:off x="6748272" y="2674664"/>
            <a:ext cx="4709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7A7D"/>
                </a:solidFill>
              </a:defRPr>
            </a:lvl1pPr>
          </a:lstStyle>
          <a:p>
            <a:pPr/>
            <a:r>
              <a:t>Scalable REST API server framework</a:t>
            </a:r>
          </a:p>
        </p:txBody>
      </p:sp>
      <p:sp>
        <p:nvSpPr>
          <p:cNvPr id="91" name="Shape 30"/>
          <p:cNvSpPr/>
          <p:nvPr/>
        </p:nvSpPr>
        <p:spPr>
          <a:xfrm>
            <a:off x="6473952" y="3090672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31"/>
          <p:cNvSpPr txBox="1"/>
          <p:nvPr/>
        </p:nvSpPr>
        <p:spPr>
          <a:xfrm>
            <a:off x="6748272" y="3030527"/>
            <a:ext cx="4709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E32"/>
                </a:solidFill>
              </a:defRPr>
            </a:lvl1pPr>
          </a:lstStyle>
          <a:p>
            <a:pPr/>
            <a:r>
              <a:t>MongoDB &amp; Mongoose</a:t>
            </a:r>
          </a:p>
        </p:txBody>
      </p:sp>
      <p:sp>
        <p:nvSpPr>
          <p:cNvPr id="93" name="Text 32"/>
          <p:cNvSpPr txBox="1"/>
          <p:nvPr/>
        </p:nvSpPr>
        <p:spPr>
          <a:xfrm>
            <a:off x="6748272" y="3296456"/>
            <a:ext cx="4709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7A7D"/>
                </a:solidFill>
              </a:defRPr>
            </a:lvl1pPr>
          </a:lstStyle>
          <a:p>
            <a:pPr/>
            <a:r>
              <a:t>Flexible NoSQL data modeling</a:t>
            </a:r>
          </a:p>
        </p:txBody>
      </p:sp>
      <p:sp>
        <p:nvSpPr>
          <p:cNvPr id="94" name="Shape 33"/>
          <p:cNvSpPr/>
          <p:nvPr/>
        </p:nvSpPr>
        <p:spPr>
          <a:xfrm>
            <a:off x="6473952" y="3712464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34"/>
          <p:cNvSpPr txBox="1"/>
          <p:nvPr/>
        </p:nvSpPr>
        <p:spPr>
          <a:xfrm>
            <a:off x="6748272" y="3652319"/>
            <a:ext cx="4709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E32"/>
                </a:solidFill>
              </a:defRPr>
            </a:lvl1pPr>
          </a:lstStyle>
          <a:p>
            <a:pPr/>
            <a:r>
              <a:t>JWT &amp; Bcrypt</a:t>
            </a:r>
          </a:p>
        </p:txBody>
      </p:sp>
      <p:sp>
        <p:nvSpPr>
          <p:cNvPr id="96" name="Text 35"/>
          <p:cNvSpPr txBox="1"/>
          <p:nvPr/>
        </p:nvSpPr>
        <p:spPr>
          <a:xfrm>
            <a:off x="6748272" y="3918248"/>
            <a:ext cx="4709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7A7D"/>
                </a:solidFill>
              </a:defRPr>
            </a:lvl1pPr>
          </a:lstStyle>
          <a:p>
            <a:pPr/>
            <a:r>
              <a:t>Secure authentication &amp; password hashing</a:t>
            </a:r>
          </a:p>
        </p:txBody>
      </p:sp>
      <p:sp>
        <p:nvSpPr>
          <p:cNvPr id="97" name="Shape 36"/>
          <p:cNvSpPr/>
          <p:nvPr/>
        </p:nvSpPr>
        <p:spPr>
          <a:xfrm>
            <a:off x="6473952" y="4334255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37"/>
          <p:cNvSpPr txBox="1"/>
          <p:nvPr/>
        </p:nvSpPr>
        <p:spPr>
          <a:xfrm>
            <a:off x="6748272" y="4274111"/>
            <a:ext cx="4709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E32"/>
                </a:solidFill>
              </a:defRPr>
            </a:lvl1pPr>
          </a:lstStyle>
          <a:p>
            <a:pPr/>
            <a:r>
              <a:t>Socket.io</a:t>
            </a:r>
          </a:p>
        </p:txBody>
      </p:sp>
      <p:sp>
        <p:nvSpPr>
          <p:cNvPr id="99" name="Text 38"/>
          <p:cNvSpPr txBox="1"/>
          <p:nvPr/>
        </p:nvSpPr>
        <p:spPr>
          <a:xfrm>
            <a:off x="6748272" y="4540040"/>
            <a:ext cx="4709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7A7D"/>
                </a:solidFill>
              </a:defRPr>
            </a:lvl1pPr>
          </a:lstStyle>
          <a:p>
            <a:pPr/>
            <a:r>
              <a:t>WebSocket-based real-time messaging</a:t>
            </a:r>
          </a:p>
        </p:txBody>
      </p:sp>
      <p:sp>
        <p:nvSpPr>
          <p:cNvPr id="100" name="Shape 39"/>
          <p:cNvSpPr/>
          <p:nvPr/>
        </p:nvSpPr>
        <p:spPr>
          <a:xfrm>
            <a:off x="6473952" y="4956047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40"/>
          <p:cNvSpPr txBox="1"/>
          <p:nvPr/>
        </p:nvSpPr>
        <p:spPr>
          <a:xfrm>
            <a:off x="6748272" y="4895903"/>
            <a:ext cx="4709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E32"/>
                </a:solidFill>
              </a:defRPr>
            </a:lvl1pPr>
          </a:lstStyle>
          <a:p>
            <a:pPr/>
            <a:r>
              <a:t>Razorpay</a:t>
            </a:r>
          </a:p>
        </p:txBody>
      </p:sp>
      <p:sp>
        <p:nvSpPr>
          <p:cNvPr id="102" name="Text 41"/>
          <p:cNvSpPr txBox="1"/>
          <p:nvPr/>
        </p:nvSpPr>
        <p:spPr>
          <a:xfrm>
            <a:off x="6748272" y="5161832"/>
            <a:ext cx="4709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7A7D"/>
                </a:solidFill>
              </a:defRPr>
            </a:lvl1pPr>
          </a:lstStyle>
          <a:p>
            <a:pPr/>
            <a:r>
              <a:t>Payment gateway for deposits &amp; rentals</a:t>
            </a:r>
          </a:p>
        </p:txBody>
      </p:sp>
      <p:sp>
        <p:nvSpPr>
          <p:cNvPr id="103" name="Shape 42"/>
          <p:cNvSpPr/>
          <p:nvPr/>
        </p:nvSpPr>
        <p:spPr>
          <a:xfrm>
            <a:off x="6473952" y="5577840"/>
            <a:ext cx="109729" cy="109729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43"/>
          <p:cNvSpPr txBox="1"/>
          <p:nvPr/>
        </p:nvSpPr>
        <p:spPr>
          <a:xfrm>
            <a:off x="6748272" y="5517695"/>
            <a:ext cx="4709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B2E32"/>
                </a:solidFill>
              </a:defRPr>
            </a:lvl1pPr>
          </a:lstStyle>
          <a:p>
            <a:pPr/>
            <a:r>
              <a:t>Nodemailer</a:t>
            </a:r>
          </a:p>
        </p:txBody>
      </p:sp>
      <p:sp>
        <p:nvSpPr>
          <p:cNvPr id="105" name="Text 44"/>
          <p:cNvSpPr txBox="1"/>
          <p:nvPr/>
        </p:nvSpPr>
        <p:spPr>
          <a:xfrm>
            <a:off x="6748272" y="5783624"/>
            <a:ext cx="4709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5B7A7D"/>
                </a:solidFill>
              </a:defRPr>
            </a:lvl1pPr>
          </a:lstStyle>
          <a:p>
            <a:pPr/>
            <a:r>
              <a:t>Automated email notifications &amp; reminders</a:t>
            </a:r>
          </a:p>
        </p:txBody>
      </p:sp>
      <p:sp>
        <p:nvSpPr>
          <p:cNvPr id="106" name="Text 45"/>
          <p:cNvSpPr txBox="1"/>
          <p:nvPr/>
        </p:nvSpPr>
        <p:spPr>
          <a:xfrm>
            <a:off x="457200" y="6584188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7A7D"/>
                </a:solidFill>
              </a:defRPr>
            </a:lvl1pPr>
          </a:lstStyle>
          <a:p>
            <a:pPr/>
            <a:r>
              <a:t>Neighborhood Skill &amp; Tool Sharing Exchange</a:t>
            </a:r>
          </a:p>
        </p:txBody>
      </p:sp>
      <p:sp>
        <p:nvSpPr>
          <p:cNvPr id="107" name="Text 46"/>
          <p:cNvSpPr txBox="1"/>
          <p:nvPr/>
        </p:nvSpPr>
        <p:spPr>
          <a:xfrm>
            <a:off x="11429999" y="6584188"/>
            <a:ext cx="365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7A7D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548640" y="457200"/>
            <a:ext cx="2377440" cy="32918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Text 1"/>
          <p:cNvSpPr txBox="1"/>
          <p:nvPr/>
        </p:nvSpPr>
        <p:spPr>
          <a:xfrm>
            <a:off x="548640" y="554658"/>
            <a:ext cx="23774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100">
                <a:solidFill>
                  <a:srgbClr val="FFFFFF"/>
                </a:solidFill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111" name="Text 2"/>
          <p:cNvSpPr txBox="1"/>
          <p:nvPr/>
        </p:nvSpPr>
        <p:spPr>
          <a:xfrm>
            <a:off x="548640" y="979931"/>
            <a:ext cx="91440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>
                <a:solidFill>
                  <a:srgbClr val="0B2E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Project Structure at a Glance</a:t>
            </a:r>
          </a:p>
        </p:txBody>
      </p:sp>
      <p:sp>
        <p:nvSpPr>
          <p:cNvPr id="112" name="Text 3"/>
          <p:cNvSpPr txBox="1"/>
          <p:nvPr/>
        </p:nvSpPr>
        <p:spPr>
          <a:xfrm>
            <a:off x="548640" y="1453187"/>
            <a:ext cx="10515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5B7A7D"/>
                </a:solidFill>
              </a:defRPr>
            </a:lvl1pPr>
          </a:lstStyle>
          <a:p>
            <a:pPr/>
            <a:r>
              <a:t>A clean client / server separation keeps UI, business logic, and data access independent.</a:t>
            </a:r>
          </a:p>
        </p:txBody>
      </p:sp>
      <p:sp>
        <p:nvSpPr>
          <p:cNvPr id="113" name="Shape 4"/>
          <p:cNvSpPr/>
          <p:nvPr/>
        </p:nvSpPr>
        <p:spPr>
          <a:xfrm>
            <a:off x="548640" y="1828800"/>
            <a:ext cx="5440680" cy="4343400"/>
          </a:xfrm>
          <a:prstGeom prst="roundRect">
            <a:avLst>
              <a:gd name="adj" fmla="val 1895"/>
            </a:avLst>
          </a:prstGeom>
          <a:solidFill>
            <a:srgbClr val="E9F7F5"/>
          </a:solidFill>
          <a:ln w="15240">
            <a:solidFill>
              <a:srgbClr val="00A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5"/>
          <p:cNvSpPr txBox="1"/>
          <p:nvPr/>
        </p:nvSpPr>
        <p:spPr>
          <a:xfrm>
            <a:off x="822959" y="2054160"/>
            <a:ext cx="493776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28090"/>
                </a:solidFill>
              </a:defRPr>
            </a:lvl1pPr>
          </a:lstStyle>
          <a:p>
            <a:pPr/>
            <a:r>
              <a:t>CLIENT  (React + Vite)</a:t>
            </a:r>
          </a:p>
        </p:txBody>
      </p:sp>
      <p:sp>
        <p:nvSpPr>
          <p:cNvPr id="115" name="Shape 6"/>
          <p:cNvSpPr/>
          <p:nvPr/>
        </p:nvSpPr>
        <p:spPr>
          <a:xfrm>
            <a:off x="822960" y="2450592"/>
            <a:ext cx="1737361" cy="411481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7"/>
          <p:cNvSpPr txBox="1"/>
          <p:nvPr/>
        </p:nvSpPr>
        <p:spPr>
          <a:xfrm>
            <a:off x="822960" y="2592832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index.html</a:t>
            </a:r>
          </a:p>
        </p:txBody>
      </p:sp>
      <p:sp>
        <p:nvSpPr>
          <p:cNvPr id="117" name="Text 8"/>
          <p:cNvSpPr txBox="1"/>
          <p:nvPr/>
        </p:nvSpPr>
        <p:spPr>
          <a:xfrm>
            <a:off x="2697479" y="2587796"/>
            <a:ext cx="31546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B2E32"/>
                </a:solidFill>
              </a:defRPr>
            </a:lvl1pPr>
          </a:lstStyle>
          <a:p>
            <a:pPr/>
            <a:r>
              <a:t>SPA entry — single root &lt;div&gt; React mounts into</a:t>
            </a:r>
          </a:p>
        </p:txBody>
      </p:sp>
      <p:sp>
        <p:nvSpPr>
          <p:cNvPr id="118" name="Shape 9"/>
          <p:cNvSpPr/>
          <p:nvPr/>
        </p:nvSpPr>
        <p:spPr>
          <a:xfrm>
            <a:off x="822960" y="3017520"/>
            <a:ext cx="1737361" cy="411481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10"/>
          <p:cNvSpPr txBox="1"/>
          <p:nvPr/>
        </p:nvSpPr>
        <p:spPr>
          <a:xfrm>
            <a:off x="822960" y="3159760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src/main.jsx</a:t>
            </a:r>
          </a:p>
        </p:txBody>
      </p:sp>
      <p:sp>
        <p:nvSpPr>
          <p:cNvPr id="120" name="Text 11"/>
          <p:cNvSpPr txBox="1"/>
          <p:nvPr/>
        </p:nvSpPr>
        <p:spPr>
          <a:xfrm>
            <a:off x="2697479" y="3154724"/>
            <a:ext cx="31546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B2E32"/>
                </a:solidFill>
              </a:defRPr>
            </a:lvl1pPr>
          </a:lstStyle>
          <a:p>
            <a:pPr/>
            <a:r>
              <a:t>Application entry point; wraps global providers</a:t>
            </a:r>
          </a:p>
        </p:txBody>
      </p:sp>
      <p:sp>
        <p:nvSpPr>
          <p:cNvPr id="121" name="Shape 12"/>
          <p:cNvSpPr/>
          <p:nvPr/>
        </p:nvSpPr>
        <p:spPr>
          <a:xfrm>
            <a:off x="822960" y="3584447"/>
            <a:ext cx="1737361" cy="411481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13"/>
          <p:cNvSpPr txBox="1"/>
          <p:nvPr/>
        </p:nvSpPr>
        <p:spPr>
          <a:xfrm>
            <a:off x="822960" y="3726687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src/App.jsx</a:t>
            </a:r>
          </a:p>
        </p:txBody>
      </p:sp>
      <p:sp>
        <p:nvSpPr>
          <p:cNvPr id="123" name="Text 14"/>
          <p:cNvSpPr txBox="1"/>
          <p:nvPr/>
        </p:nvSpPr>
        <p:spPr>
          <a:xfrm>
            <a:off x="2697479" y="3721652"/>
            <a:ext cx="31546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B2E32"/>
                </a:solidFill>
              </a:defRPr>
            </a:lvl1pPr>
          </a:lstStyle>
          <a:p>
            <a:pPr/>
            <a:r>
              <a:t>Root component; holds React Router routing logic</a:t>
            </a:r>
          </a:p>
        </p:txBody>
      </p:sp>
      <p:sp>
        <p:nvSpPr>
          <p:cNvPr id="124" name="Shape 15"/>
          <p:cNvSpPr/>
          <p:nvPr/>
        </p:nvSpPr>
        <p:spPr>
          <a:xfrm>
            <a:off x="822960" y="4151376"/>
            <a:ext cx="1737361" cy="411481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16"/>
          <p:cNvSpPr txBox="1"/>
          <p:nvPr/>
        </p:nvSpPr>
        <p:spPr>
          <a:xfrm>
            <a:off x="822960" y="4293616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src/pages/</a:t>
            </a:r>
          </a:p>
        </p:txBody>
      </p:sp>
      <p:sp>
        <p:nvSpPr>
          <p:cNvPr id="126" name="Text 17"/>
          <p:cNvSpPr txBox="1"/>
          <p:nvPr/>
        </p:nvSpPr>
        <p:spPr>
          <a:xfrm>
            <a:off x="2697479" y="4288580"/>
            <a:ext cx="31546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B2E32"/>
                </a:solidFill>
              </a:defRPr>
            </a:lvl1pPr>
          </a:lstStyle>
          <a:p>
            <a:pPr/>
            <a:r>
              <a:t>Full views — Home, Login, ToolDetails, Dashboard…</a:t>
            </a:r>
          </a:p>
        </p:txBody>
      </p:sp>
      <p:sp>
        <p:nvSpPr>
          <p:cNvPr id="127" name="Shape 18"/>
          <p:cNvSpPr/>
          <p:nvPr/>
        </p:nvSpPr>
        <p:spPr>
          <a:xfrm>
            <a:off x="822960" y="4718303"/>
            <a:ext cx="1737361" cy="411481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19"/>
          <p:cNvSpPr txBox="1"/>
          <p:nvPr/>
        </p:nvSpPr>
        <p:spPr>
          <a:xfrm>
            <a:off x="822960" y="4860543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src/components/</a:t>
            </a:r>
          </a:p>
        </p:txBody>
      </p:sp>
      <p:sp>
        <p:nvSpPr>
          <p:cNvPr id="129" name="Text 20"/>
          <p:cNvSpPr txBox="1"/>
          <p:nvPr/>
        </p:nvSpPr>
        <p:spPr>
          <a:xfrm>
            <a:off x="2697479" y="4855508"/>
            <a:ext cx="31546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B2E32"/>
                </a:solidFill>
              </a:defRPr>
            </a:lvl1pPr>
          </a:lstStyle>
          <a:p>
            <a:pPr/>
            <a:r>
              <a:t>Reusable UI blocks — Navbar, ToolCard, Footer…</a:t>
            </a:r>
          </a:p>
        </p:txBody>
      </p:sp>
      <p:sp>
        <p:nvSpPr>
          <p:cNvPr id="130" name="Shape 21"/>
          <p:cNvSpPr/>
          <p:nvPr/>
        </p:nvSpPr>
        <p:spPr>
          <a:xfrm>
            <a:off x="822960" y="5285232"/>
            <a:ext cx="1737361" cy="411481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22"/>
          <p:cNvSpPr txBox="1"/>
          <p:nvPr/>
        </p:nvSpPr>
        <p:spPr>
          <a:xfrm>
            <a:off x="822960" y="5427472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src/context/ &amp; services/</a:t>
            </a:r>
          </a:p>
        </p:txBody>
      </p:sp>
      <p:sp>
        <p:nvSpPr>
          <p:cNvPr id="132" name="Text 23"/>
          <p:cNvSpPr txBox="1"/>
          <p:nvPr/>
        </p:nvSpPr>
        <p:spPr>
          <a:xfrm>
            <a:off x="2697479" y="5422436"/>
            <a:ext cx="31546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B2E32"/>
                </a:solidFill>
              </a:defRPr>
            </a:lvl1pPr>
          </a:lstStyle>
          <a:p>
            <a:pPr/>
            <a:r>
              <a:t>Auth context and API service wrappers</a:t>
            </a:r>
          </a:p>
        </p:txBody>
      </p:sp>
      <p:sp>
        <p:nvSpPr>
          <p:cNvPr id="133" name="Shape 24"/>
          <p:cNvSpPr/>
          <p:nvPr/>
        </p:nvSpPr>
        <p:spPr>
          <a:xfrm>
            <a:off x="6199632" y="1828800"/>
            <a:ext cx="5440680" cy="4343400"/>
          </a:xfrm>
          <a:prstGeom prst="roundRect">
            <a:avLst>
              <a:gd name="adj" fmla="val 1895"/>
            </a:avLst>
          </a:prstGeom>
          <a:solidFill>
            <a:srgbClr val="E9F7F5"/>
          </a:solidFill>
          <a:ln w="15240">
            <a:solidFill>
              <a:srgbClr val="00A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25"/>
          <p:cNvSpPr txBox="1"/>
          <p:nvPr/>
        </p:nvSpPr>
        <p:spPr>
          <a:xfrm>
            <a:off x="6473952" y="2054160"/>
            <a:ext cx="49377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28090"/>
                </a:solidFill>
              </a:defRPr>
            </a:lvl1pPr>
          </a:lstStyle>
          <a:p>
            <a:pPr/>
            <a:r>
              <a:t>SERVER  (Node + Express)</a:t>
            </a:r>
          </a:p>
        </p:txBody>
      </p:sp>
      <p:sp>
        <p:nvSpPr>
          <p:cNvPr id="135" name="Shape 26"/>
          <p:cNvSpPr/>
          <p:nvPr/>
        </p:nvSpPr>
        <p:spPr>
          <a:xfrm>
            <a:off x="6473952" y="2450592"/>
            <a:ext cx="1737361" cy="411481"/>
          </a:xfrm>
          <a:prstGeom prst="roundRect">
            <a:avLst>
              <a:gd name="adj" fmla="val 13333"/>
            </a:avLst>
          </a:prstGeom>
          <a:solidFill>
            <a:srgbClr val="07272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27"/>
          <p:cNvSpPr txBox="1"/>
          <p:nvPr/>
        </p:nvSpPr>
        <p:spPr>
          <a:xfrm>
            <a:off x="6473952" y="2592832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server.js</a:t>
            </a:r>
          </a:p>
        </p:txBody>
      </p:sp>
      <p:sp>
        <p:nvSpPr>
          <p:cNvPr id="137" name="Text 28"/>
          <p:cNvSpPr txBox="1"/>
          <p:nvPr/>
        </p:nvSpPr>
        <p:spPr>
          <a:xfrm>
            <a:off x="8348471" y="2587796"/>
            <a:ext cx="31546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B2E32"/>
                </a:solidFill>
              </a:defRPr>
            </a:lvl1pPr>
          </a:lstStyle>
          <a:p>
            <a:pPr/>
            <a:r>
              <a:t>Entry point — starts Express, DB, and Socket.io</a:t>
            </a:r>
          </a:p>
        </p:txBody>
      </p:sp>
      <p:sp>
        <p:nvSpPr>
          <p:cNvPr id="138" name="Shape 29"/>
          <p:cNvSpPr/>
          <p:nvPr/>
        </p:nvSpPr>
        <p:spPr>
          <a:xfrm>
            <a:off x="6473952" y="3017520"/>
            <a:ext cx="1737361" cy="411481"/>
          </a:xfrm>
          <a:prstGeom prst="roundRect">
            <a:avLst>
              <a:gd name="adj" fmla="val 13333"/>
            </a:avLst>
          </a:prstGeom>
          <a:solidFill>
            <a:srgbClr val="07272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30"/>
          <p:cNvSpPr txBox="1"/>
          <p:nvPr/>
        </p:nvSpPr>
        <p:spPr>
          <a:xfrm>
            <a:off x="6473952" y="3159760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app.js</a:t>
            </a:r>
          </a:p>
        </p:txBody>
      </p:sp>
      <p:sp>
        <p:nvSpPr>
          <p:cNvPr id="140" name="Text 31"/>
          <p:cNvSpPr txBox="1"/>
          <p:nvPr/>
        </p:nvSpPr>
        <p:spPr>
          <a:xfrm>
            <a:off x="8348471" y="3154724"/>
            <a:ext cx="31546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B2E32"/>
                </a:solidFill>
              </a:defRPr>
            </a:lvl1pPr>
          </a:lstStyle>
          <a:p>
            <a:pPr/>
            <a:r>
              <a:t>Configures middleware, routes, and error handlers</a:t>
            </a:r>
          </a:p>
        </p:txBody>
      </p:sp>
      <p:sp>
        <p:nvSpPr>
          <p:cNvPr id="141" name="Shape 32"/>
          <p:cNvSpPr/>
          <p:nvPr/>
        </p:nvSpPr>
        <p:spPr>
          <a:xfrm>
            <a:off x="6473952" y="3584447"/>
            <a:ext cx="1737361" cy="411481"/>
          </a:xfrm>
          <a:prstGeom prst="roundRect">
            <a:avLst>
              <a:gd name="adj" fmla="val 13333"/>
            </a:avLst>
          </a:prstGeom>
          <a:solidFill>
            <a:srgbClr val="07272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33"/>
          <p:cNvSpPr txBox="1"/>
          <p:nvPr/>
        </p:nvSpPr>
        <p:spPr>
          <a:xfrm>
            <a:off x="6473952" y="3726687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models/</a:t>
            </a:r>
          </a:p>
        </p:txBody>
      </p:sp>
      <p:sp>
        <p:nvSpPr>
          <p:cNvPr id="143" name="Text 34"/>
          <p:cNvSpPr txBox="1"/>
          <p:nvPr/>
        </p:nvSpPr>
        <p:spPr>
          <a:xfrm>
            <a:off x="8348471" y="3721652"/>
            <a:ext cx="31546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B2E32"/>
                </a:solidFill>
              </a:defRPr>
            </a:lvl1pPr>
          </a:lstStyle>
          <a:p>
            <a:pPr/>
            <a:r>
              <a:t>Mongoose schemas — User, Tool, Skill, Booking…</a:t>
            </a:r>
          </a:p>
        </p:txBody>
      </p:sp>
      <p:sp>
        <p:nvSpPr>
          <p:cNvPr id="144" name="Shape 35"/>
          <p:cNvSpPr/>
          <p:nvPr/>
        </p:nvSpPr>
        <p:spPr>
          <a:xfrm>
            <a:off x="6473952" y="4151376"/>
            <a:ext cx="1737361" cy="411481"/>
          </a:xfrm>
          <a:prstGeom prst="roundRect">
            <a:avLst>
              <a:gd name="adj" fmla="val 13333"/>
            </a:avLst>
          </a:prstGeom>
          <a:solidFill>
            <a:srgbClr val="07272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36"/>
          <p:cNvSpPr txBox="1"/>
          <p:nvPr/>
        </p:nvSpPr>
        <p:spPr>
          <a:xfrm>
            <a:off x="6473952" y="4293616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controllers/</a:t>
            </a:r>
          </a:p>
        </p:txBody>
      </p:sp>
      <p:sp>
        <p:nvSpPr>
          <p:cNvPr id="146" name="Text 37"/>
          <p:cNvSpPr txBox="1"/>
          <p:nvPr/>
        </p:nvSpPr>
        <p:spPr>
          <a:xfrm>
            <a:off x="8348471" y="4288580"/>
            <a:ext cx="31546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B2E32"/>
                </a:solidFill>
              </a:defRPr>
            </a:lvl1pPr>
          </a:lstStyle>
          <a:p>
            <a:pPr/>
            <a:r>
              <a:t>Core business logic behind every endpoint</a:t>
            </a:r>
          </a:p>
        </p:txBody>
      </p:sp>
      <p:sp>
        <p:nvSpPr>
          <p:cNvPr id="147" name="Shape 38"/>
          <p:cNvSpPr/>
          <p:nvPr/>
        </p:nvSpPr>
        <p:spPr>
          <a:xfrm>
            <a:off x="6473952" y="4718303"/>
            <a:ext cx="1737361" cy="411481"/>
          </a:xfrm>
          <a:prstGeom prst="roundRect">
            <a:avLst>
              <a:gd name="adj" fmla="val 13333"/>
            </a:avLst>
          </a:prstGeom>
          <a:solidFill>
            <a:srgbClr val="07272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39"/>
          <p:cNvSpPr txBox="1"/>
          <p:nvPr/>
        </p:nvSpPr>
        <p:spPr>
          <a:xfrm>
            <a:off x="6473952" y="4860543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routes/</a:t>
            </a:r>
          </a:p>
        </p:txBody>
      </p:sp>
      <p:sp>
        <p:nvSpPr>
          <p:cNvPr id="149" name="Text 40"/>
          <p:cNvSpPr txBox="1"/>
          <p:nvPr/>
        </p:nvSpPr>
        <p:spPr>
          <a:xfrm>
            <a:off x="8348471" y="4855508"/>
            <a:ext cx="31546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B2E32"/>
                </a:solidFill>
              </a:defRPr>
            </a:lvl1pPr>
          </a:lstStyle>
          <a:p>
            <a:pPr/>
            <a:r>
              <a:t>Maps URLs (GET/POST/PUT/DELETE) to controllers</a:t>
            </a:r>
          </a:p>
        </p:txBody>
      </p:sp>
      <p:sp>
        <p:nvSpPr>
          <p:cNvPr id="150" name="Shape 41"/>
          <p:cNvSpPr/>
          <p:nvPr/>
        </p:nvSpPr>
        <p:spPr>
          <a:xfrm>
            <a:off x="6473952" y="5285232"/>
            <a:ext cx="1737361" cy="411481"/>
          </a:xfrm>
          <a:prstGeom prst="roundRect">
            <a:avLst>
              <a:gd name="adj" fmla="val 13333"/>
            </a:avLst>
          </a:prstGeom>
          <a:solidFill>
            <a:srgbClr val="07272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42"/>
          <p:cNvSpPr txBox="1"/>
          <p:nvPr/>
        </p:nvSpPr>
        <p:spPr>
          <a:xfrm>
            <a:off x="6473952" y="5427472"/>
            <a:ext cx="17373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middleware/ &amp; utils/</a:t>
            </a:r>
          </a:p>
        </p:txBody>
      </p:sp>
      <p:sp>
        <p:nvSpPr>
          <p:cNvPr id="152" name="Text 43"/>
          <p:cNvSpPr txBox="1"/>
          <p:nvPr/>
        </p:nvSpPr>
        <p:spPr>
          <a:xfrm>
            <a:off x="8348471" y="5422436"/>
            <a:ext cx="31546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B2E32"/>
                </a:solidFill>
              </a:defRPr>
            </a:lvl1pPr>
          </a:lstStyle>
          <a:p>
            <a:pPr/>
            <a:r>
              <a:t>Auth guards, rate limiting, email &amp; token helpers</a:t>
            </a:r>
          </a:p>
        </p:txBody>
      </p:sp>
      <p:sp>
        <p:nvSpPr>
          <p:cNvPr id="153" name="Text 44"/>
          <p:cNvSpPr txBox="1"/>
          <p:nvPr/>
        </p:nvSpPr>
        <p:spPr>
          <a:xfrm>
            <a:off x="457200" y="6584188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7A7D"/>
                </a:solidFill>
              </a:defRPr>
            </a:lvl1pPr>
          </a:lstStyle>
          <a:p>
            <a:pPr/>
            <a:r>
              <a:t>Neighborhood Skill &amp; Tool Sharing Exchange</a:t>
            </a:r>
          </a:p>
        </p:txBody>
      </p:sp>
      <p:sp>
        <p:nvSpPr>
          <p:cNvPr id="154" name="Text 45"/>
          <p:cNvSpPr txBox="1"/>
          <p:nvPr/>
        </p:nvSpPr>
        <p:spPr>
          <a:xfrm>
            <a:off x="11429999" y="6584188"/>
            <a:ext cx="365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7A7D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548640" y="457200"/>
            <a:ext cx="2377440" cy="32918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1"/>
          <p:cNvSpPr txBox="1"/>
          <p:nvPr/>
        </p:nvSpPr>
        <p:spPr>
          <a:xfrm>
            <a:off x="548640" y="554658"/>
            <a:ext cx="23774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100">
                <a:solidFill>
                  <a:srgbClr val="FFFFFF"/>
                </a:solidFill>
              </a:defRPr>
            </a:lvl1pPr>
          </a:lstStyle>
          <a:p>
            <a:pPr/>
            <a:r>
              <a:t>API DOCUMENTATION</a:t>
            </a:r>
          </a:p>
        </p:txBody>
      </p:sp>
      <p:sp>
        <p:nvSpPr>
          <p:cNvPr id="158" name="Text 2"/>
          <p:cNvSpPr txBox="1"/>
          <p:nvPr/>
        </p:nvSpPr>
        <p:spPr>
          <a:xfrm>
            <a:off x="548640" y="979931"/>
            <a:ext cx="105156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>
                <a:solidFill>
                  <a:srgbClr val="0B2E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68 RESTful Endpoints Across 14 Modules</a:t>
            </a:r>
          </a:p>
        </p:txBody>
      </p:sp>
      <p:sp>
        <p:nvSpPr>
          <p:cNvPr id="159" name="Shape 3"/>
          <p:cNvSpPr/>
          <p:nvPr/>
        </p:nvSpPr>
        <p:spPr>
          <a:xfrm>
            <a:off x="548640" y="1600200"/>
            <a:ext cx="1536192" cy="1737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Shape 4"/>
          <p:cNvSpPr/>
          <p:nvPr/>
        </p:nvSpPr>
        <p:spPr>
          <a:xfrm>
            <a:off x="548640" y="1600200"/>
            <a:ext cx="1536192" cy="73153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5"/>
          <p:cNvSpPr txBox="1"/>
          <p:nvPr/>
        </p:nvSpPr>
        <p:spPr>
          <a:xfrm>
            <a:off x="548640" y="1966722"/>
            <a:ext cx="153619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62" name="Text 6"/>
          <p:cNvSpPr txBox="1"/>
          <p:nvPr/>
        </p:nvSpPr>
        <p:spPr>
          <a:xfrm>
            <a:off x="548640" y="2589198"/>
            <a:ext cx="153619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B2E32"/>
                </a:solidFill>
              </a:defRPr>
            </a:lvl1pPr>
          </a:lstStyle>
          <a:p>
            <a:pPr/>
            <a:r>
              <a:t>Auth</a:t>
            </a:r>
          </a:p>
        </p:txBody>
      </p:sp>
      <p:sp>
        <p:nvSpPr>
          <p:cNvPr id="163" name="Text 7"/>
          <p:cNvSpPr txBox="1"/>
          <p:nvPr/>
        </p:nvSpPr>
        <p:spPr>
          <a:xfrm>
            <a:off x="548640" y="2926587"/>
            <a:ext cx="15361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B7A7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/api/auth</a:t>
            </a:r>
          </a:p>
        </p:txBody>
      </p:sp>
      <p:sp>
        <p:nvSpPr>
          <p:cNvPr id="164" name="Shape 8"/>
          <p:cNvSpPr/>
          <p:nvPr/>
        </p:nvSpPr>
        <p:spPr>
          <a:xfrm>
            <a:off x="2167127" y="1600200"/>
            <a:ext cx="1536193" cy="1737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Shape 9"/>
          <p:cNvSpPr/>
          <p:nvPr/>
        </p:nvSpPr>
        <p:spPr>
          <a:xfrm>
            <a:off x="2167127" y="1600200"/>
            <a:ext cx="1536193" cy="73153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0"/>
          <p:cNvSpPr txBox="1"/>
          <p:nvPr/>
        </p:nvSpPr>
        <p:spPr>
          <a:xfrm>
            <a:off x="2167127" y="1966722"/>
            <a:ext cx="153619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67" name="Text 11"/>
          <p:cNvSpPr txBox="1"/>
          <p:nvPr/>
        </p:nvSpPr>
        <p:spPr>
          <a:xfrm>
            <a:off x="2167127" y="2589198"/>
            <a:ext cx="153619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B2E32"/>
                </a:solidFill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68" name="Text 12"/>
          <p:cNvSpPr txBox="1"/>
          <p:nvPr/>
        </p:nvSpPr>
        <p:spPr>
          <a:xfrm>
            <a:off x="2167127" y="2926587"/>
            <a:ext cx="15361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B7A7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/api/users</a:t>
            </a:r>
          </a:p>
        </p:txBody>
      </p:sp>
      <p:sp>
        <p:nvSpPr>
          <p:cNvPr id="169" name="Shape 13"/>
          <p:cNvSpPr/>
          <p:nvPr/>
        </p:nvSpPr>
        <p:spPr>
          <a:xfrm>
            <a:off x="3785615" y="1600200"/>
            <a:ext cx="1536193" cy="1737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Shape 14"/>
          <p:cNvSpPr/>
          <p:nvPr/>
        </p:nvSpPr>
        <p:spPr>
          <a:xfrm>
            <a:off x="3785615" y="1600200"/>
            <a:ext cx="1536193" cy="73153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15"/>
          <p:cNvSpPr txBox="1"/>
          <p:nvPr/>
        </p:nvSpPr>
        <p:spPr>
          <a:xfrm>
            <a:off x="3785615" y="1966722"/>
            <a:ext cx="153619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72" name="Text 16"/>
          <p:cNvSpPr txBox="1"/>
          <p:nvPr/>
        </p:nvSpPr>
        <p:spPr>
          <a:xfrm>
            <a:off x="3785615" y="2589198"/>
            <a:ext cx="153619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B2E32"/>
                </a:solidFill>
              </a:defRPr>
            </a:lvl1pPr>
          </a:lstStyle>
          <a:p>
            <a:pPr/>
            <a:r>
              <a:t>Tools</a:t>
            </a:r>
          </a:p>
        </p:txBody>
      </p:sp>
      <p:sp>
        <p:nvSpPr>
          <p:cNvPr id="173" name="Text 17"/>
          <p:cNvSpPr txBox="1"/>
          <p:nvPr/>
        </p:nvSpPr>
        <p:spPr>
          <a:xfrm>
            <a:off x="3785615" y="2926587"/>
            <a:ext cx="15361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B7A7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/api</a:t>
            </a:r>
          </a:p>
        </p:txBody>
      </p:sp>
      <p:sp>
        <p:nvSpPr>
          <p:cNvPr id="174" name="Shape 18"/>
          <p:cNvSpPr/>
          <p:nvPr/>
        </p:nvSpPr>
        <p:spPr>
          <a:xfrm>
            <a:off x="5404103" y="1600200"/>
            <a:ext cx="1536193" cy="1737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Shape 19"/>
          <p:cNvSpPr/>
          <p:nvPr/>
        </p:nvSpPr>
        <p:spPr>
          <a:xfrm>
            <a:off x="5404103" y="1600200"/>
            <a:ext cx="1536193" cy="73153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20"/>
          <p:cNvSpPr txBox="1"/>
          <p:nvPr/>
        </p:nvSpPr>
        <p:spPr>
          <a:xfrm>
            <a:off x="5404103" y="1966722"/>
            <a:ext cx="153619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77" name="Text 21"/>
          <p:cNvSpPr txBox="1"/>
          <p:nvPr/>
        </p:nvSpPr>
        <p:spPr>
          <a:xfrm>
            <a:off x="5404103" y="2589198"/>
            <a:ext cx="153619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B2E32"/>
                </a:solidFill>
              </a:defRPr>
            </a:lvl1pPr>
          </a:lstStyle>
          <a:p>
            <a:pPr/>
            <a:r>
              <a:t>Skills</a:t>
            </a:r>
          </a:p>
        </p:txBody>
      </p:sp>
      <p:sp>
        <p:nvSpPr>
          <p:cNvPr id="178" name="Text 22"/>
          <p:cNvSpPr txBox="1"/>
          <p:nvPr/>
        </p:nvSpPr>
        <p:spPr>
          <a:xfrm>
            <a:off x="5404103" y="2926587"/>
            <a:ext cx="15361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B7A7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/api/skill</a:t>
            </a:r>
          </a:p>
        </p:txBody>
      </p:sp>
      <p:sp>
        <p:nvSpPr>
          <p:cNvPr id="179" name="Shape 23"/>
          <p:cNvSpPr/>
          <p:nvPr/>
        </p:nvSpPr>
        <p:spPr>
          <a:xfrm>
            <a:off x="7022592" y="1600200"/>
            <a:ext cx="1536193" cy="1737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Shape 24"/>
          <p:cNvSpPr/>
          <p:nvPr/>
        </p:nvSpPr>
        <p:spPr>
          <a:xfrm>
            <a:off x="7022592" y="1600200"/>
            <a:ext cx="1536193" cy="73153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Text 25"/>
          <p:cNvSpPr txBox="1"/>
          <p:nvPr/>
        </p:nvSpPr>
        <p:spPr>
          <a:xfrm>
            <a:off x="7022592" y="1966722"/>
            <a:ext cx="153619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82" name="Text 26"/>
          <p:cNvSpPr txBox="1"/>
          <p:nvPr/>
        </p:nvSpPr>
        <p:spPr>
          <a:xfrm>
            <a:off x="7022592" y="2589198"/>
            <a:ext cx="153619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B2E32"/>
                </a:solidFill>
              </a:defRPr>
            </a:lvl1pPr>
          </a:lstStyle>
          <a:p>
            <a:pPr/>
            <a:r>
              <a:t>Bookings</a:t>
            </a:r>
          </a:p>
        </p:txBody>
      </p:sp>
      <p:sp>
        <p:nvSpPr>
          <p:cNvPr id="183" name="Text 27"/>
          <p:cNvSpPr txBox="1"/>
          <p:nvPr/>
        </p:nvSpPr>
        <p:spPr>
          <a:xfrm>
            <a:off x="7022592" y="2926587"/>
            <a:ext cx="15361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B7A7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/api</a:t>
            </a:r>
          </a:p>
        </p:txBody>
      </p:sp>
      <p:sp>
        <p:nvSpPr>
          <p:cNvPr id="184" name="Shape 28"/>
          <p:cNvSpPr/>
          <p:nvPr/>
        </p:nvSpPr>
        <p:spPr>
          <a:xfrm>
            <a:off x="8641080" y="1600200"/>
            <a:ext cx="1536193" cy="1737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Shape 29"/>
          <p:cNvSpPr/>
          <p:nvPr/>
        </p:nvSpPr>
        <p:spPr>
          <a:xfrm>
            <a:off x="8641080" y="1600200"/>
            <a:ext cx="1536193" cy="73153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30"/>
          <p:cNvSpPr txBox="1"/>
          <p:nvPr/>
        </p:nvSpPr>
        <p:spPr>
          <a:xfrm>
            <a:off x="8641080" y="1966722"/>
            <a:ext cx="153619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87" name="Text 31"/>
          <p:cNvSpPr txBox="1"/>
          <p:nvPr/>
        </p:nvSpPr>
        <p:spPr>
          <a:xfrm>
            <a:off x="8641080" y="2589198"/>
            <a:ext cx="153619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B2E32"/>
                </a:solidFill>
              </a:defRPr>
            </a:lvl1pPr>
          </a:lstStyle>
          <a:p>
            <a:pPr/>
            <a:r>
              <a:t>Admin</a:t>
            </a:r>
          </a:p>
        </p:txBody>
      </p:sp>
      <p:sp>
        <p:nvSpPr>
          <p:cNvPr id="188" name="Text 32"/>
          <p:cNvSpPr txBox="1"/>
          <p:nvPr/>
        </p:nvSpPr>
        <p:spPr>
          <a:xfrm>
            <a:off x="8641080" y="2926587"/>
            <a:ext cx="15361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B7A7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/api/admin</a:t>
            </a:r>
          </a:p>
        </p:txBody>
      </p:sp>
      <p:sp>
        <p:nvSpPr>
          <p:cNvPr id="189" name="Shape 33"/>
          <p:cNvSpPr/>
          <p:nvPr/>
        </p:nvSpPr>
        <p:spPr>
          <a:xfrm>
            <a:off x="10259568" y="1600200"/>
            <a:ext cx="1536193" cy="1737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Shape 34"/>
          <p:cNvSpPr/>
          <p:nvPr/>
        </p:nvSpPr>
        <p:spPr>
          <a:xfrm>
            <a:off x="10259568" y="1600200"/>
            <a:ext cx="1536193" cy="73153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35"/>
          <p:cNvSpPr txBox="1"/>
          <p:nvPr/>
        </p:nvSpPr>
        <p:spPr>
          <a:xfrm>
            <a:off x="10259568" y="1966722"/>
            <a:ext cx="153619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92" name="Text 36"/>
          <p:cNvSpPr txBox="1"/>
          <p:nvPr/>
        </p:nvSpPr>
        <p:spPr>
          <a:xfrm>
            <a:off x="10259568" y="2589198"/>
            <a:ext cx="153619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B2E32"/>
                </a:solidFill>
              </a:defRPr>
            </a:lvl1pPr>
          </a:lstStyle>
          <a:p>
            <a:pPr/>
            <a:r>
              <a:t>Chat</a:t>
            </a:r>
          </a:p>
        </p:txBody>
      </p:sp>
      <p:sp>
        <p:nvSpPr>
          <p:cNvPr id="193" name="Text 37"/>
          <p:cNvSpPr txBox="1"/>
          <p:nvPr/>
        </p:nvSpPr>
        <p:spPr>
          <a:xfrm>
            <a:off x="10259568" y="2926587"/>
            <a:ext cx="15361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B7A7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/api/chat</a:t>
            </a:r>
          </a:p>
        </p:txBody>
      </p:sp>
      <p:sp>
        <p:nvSpPr>
          <p:cNvPr id="194" name="Shape 38"/>
          <p:cNvSpPr/>
          <p:nvPr/>
        </p:nvSpPr>
        <p:spPr>
          <a:xfrm>
            <a:off x="548640" y="3465576"/>
            <a:ext cx="1536192" cy="1737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Shape 39"/>
          <p:cNvSpPr/>
          <p:nvPr/>
        </p:nvSpPr>
        <p:spPr>
          <a:xfrm>
            <a:off x="548640" y="3465576"/>
            <a:ext cx="1536192" cy="73153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40"/>
          <p:cNvSpPr txBox="1"/>
          <p:nvPr/>
        </p:nvSpPr>
        <p:spPr>
          <a:xfrm>
            <a:off x="548640" y="3832098"/>
            <a:ext cx="153619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97" name="Text 41"/>
          <p:cNvSpPr txBox="1"/>
          <p:nvPr/>
        </p:nvSpPr>
        <p:spPr>
          <a:xfrm>
            <a:off x="548640" y="4454574"/>
            <a:ext cx="153619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B2E32"/>
                </a:solidFill>
              </a:defRPr>
            </a:lvl1pPr>
          </a:lstStyle>
          <a:p>
            <a:pPr/>
            <a:r>
              <a:t>Payments</a:t>
            </a:r>
          </a:p>
        </p:txBody>
      </p:sp>
      <p:sp>
        <p:nvSpPr>
          <p:cNvPr id="198" name="Text 42"/>
          <p:cNvSpPr txBox="1"/>
          <p:nvPr/>
        </p:nvSpPr>
        <p:spPr>
          <a:xfrm>
            <a:off x="548640" y="4791964"/>
            <a:ext cx="15361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B7A7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/api</a:t>
            </a:r>
          </a:p>
        </p:txBody>
      </p:sp>
      <p:sp>
        <p:nvSpPr>
          <p:cNvPr id="199" name="Shape 43"/>
          <p:cNvSpPr/>
          <p:nvPr/>
        </p:nvSpPr>
        <p:spPr>
          <a:xfrm>
            <a:off x="2167127" y="3465576"/>
            <a:ext cx="1536193" cy="1737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Shape 44"/>
          <p:cNvSpPr/>
          <p:nvPr/>
        </p:nvSpPr>
        <p:spPr>
          <a:xfrm>
            <a:off x="2167127" y="3465576"/>
            <a:ext cx="1536193" cy="73153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45"/>
          <p:cNvSpPr txBox="1"/>
          <p:nvPr/>
        </p:nvSpPr>
        <p:spPr>
          <a:xfrm>
            <a:off x="2167127" y="3832098"/>
            <a:ext cx="153619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02" name="Text 46"/>
          <p:cNvSpPr txBox="1"/>
          <p:nvPr/>
        </p:nvSpPr>
        <p:spPr>
          <a:xfrm>
            <a:off x="2167127" y="4454574"/>
            <a:ext cx="153619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B2E32"/>
                </a:solidFill>
              </a:defRPr>
            </a:lvl1pPr>
          </a:lstStyle>
          <a:p>
            <a:pPr/>
            <a:r>
              <a:t>Reviews</a:t>
            </a:r>
          </a:p>
        </p:txBody>
      </p:sp>
      <p:sp>
        <p:nvSpPr>
          <p:cNvPr id="203" name="Text 47"/>
          <p:cNvSpPr txBox="1"/>
          <p:nvPr/>
        </p:nvSpPr>
        <p:spPr>
          <a:xfrm>
            <a:off x="2167127" y="4791964"/>
            <a:ext cx="15361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B7A7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/api/review</a:t>
            </a:r>
          </a:p>
        </p:txBody>
      </p:sp>
      <p:sp>
        <p:nvSpPr>
          <p:cNvPr id="204" name="Shape 48"/>
          <p:cNvSpPr/>
          <p:nvPr/>
        </p:nvSpPr>
        <p:spPr>
          <a:xfrm>
            <a:off x="3785615" y="3465576"/>
            <a:ext cx="1536193" cy="1737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Shape 49"/>
          <p:cNvSpPr/>
          <p:nvPr/>
        </p:nvSpPr>
        <p:spPr>
          <a:xfrm>
            <a:off x="3785615" y="3465576"/>
            <a:ext cx="1536193" cy="73153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50"/>
          <p:cNvSpPr txBox="1"/>
          <p:nvPr/>
        </p:nvSpPr>
        <p:spPr>
          <a:xfrm>
            <a:off x="3785615" y="3832098"/>
            <a:ext cx="153619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07" name="Text 51"/>
          <p:cNvSpPr txBox="1"/>
          <p:nvPr/>
        </p:nvSpPr>
        <p:spPr>
          <a:xfrm>
            <a:off x="3785615" y="4454574"/>
            <a:ext cx="153619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B2E32"/>
                </a:solidFill>
              </a:defRPr>
            </a:lvl1pPr>
          </a:lstStyle>
          <a:p>
            <a:pPr/>
            <a:r>
              <a:t>Reports</a:t>
            </a:r>
          </a:p>
        </p:txBody>
      </p:sp>
      <p:sp>
        <p:nvSpPr>
          <p:cNvPr id="208" name="Text 52"/>
          <p:cNvSpPr txBox="1"/>
          <p:nvPr/>
        </p:nvSpPr>
        <p:spPr>
          <a:xfrm>
            <a:off x="3785615" y="4791964"/>
            <a:ext cx="15361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B7A7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/api</a:t>
            </a:r>
          </a:p>
        </p:txBody>
      </p:sp>
      <p:sp>
        <p:nvSpPr>
          <p:cNvPr id="209" name="Shape 53"/>
          <p:cNvSpPr/>
          <p:nvPr/>
        </p:nvSpPr>
        <p:spPr>
          <a:xfrm>
            <a:off x="5404103" y="3465576"/>
            <a:ext cx="1536193" cy="1737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Shape 54"/>
          <p:cNvSpPr/>
          <p:nvPr/>
        </p:nvSpPr>
        <p:spPr>
          <a:xfrm>
            <a:off x="5404103" y="3465576"/>
            <a:ext cx="1536193" cy="73153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55"/>
          <p:cNvSpPr txBox="1"/>
          <p:nvPr/>
        </p:nvSpPr>
        <p:spPr>
          <a:xfrm>
            <a:off x="5404103" y="3832098"/>
            <a:ext cx="153619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12" name="Text 56"/>
          <p:cNvSpPr txBox="1"/>
          <p:nvPr/>
        </p:nvSpPr>
        <p:spPr>
          <a:xfrm>
            <a:off x="5404103" y="4454574"/>
            <a:ext cx="153619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B2E32"/>
                </a:solidFill>
              </a:defRPr>
            </a:lvl1pPr>
          </a:lstStyle>
          <a:p>
            <a:pPr/>
            <a:r>
              <a:t>Notifications</a:t>
            </a:r>
          </a:p>
        </p:txBody>
      </p:sp>
      <p:sp>
        <p:nvSpPr>
          <p:cNvPr id="213" name="Text 57"/>
          <p:cNvSpPr txBox="1"/>
          <p:nvPr/>
        </p:nvSpPr>
        <p:spPr>
          <a:xfrm>
            <a:off x="5404103" y="4791964"/>
            <a:ext cx="15361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B7A7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/api/notifications</a:t>
            </a:r>
          </a:p>
        </p:txBody>
      </p:sp>
      <p:sp>
        <p:nvSpPr>
          <p:cNvPr id="214" name="Shape 58"/>
          <p:cNvSpPr/>
          <p:nvPr/>
        </p:nvSpPr>
        <p:spPr>
          <a:xfrm>
            <a:off x="7022592" y="3465576"/>
            <a:ext cx="1536193" cy="1737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Shape 59"/>
          <p:cNvSpPr/>
          <p:nvPr/>
        </p:nvSpPr>
        <p:spPr>
          <a:xfrm>
            <a:off x="7022592" y="3465576"/>
            <a:ext cx="1536193" cy="73153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60"/>
          <p:cNvSpPr txBox="1"/>
          <p:nvPr/>
        </p:nvSpPr>
        <p:spPr>
          <a:xfrm>
            <a:off x="7022592" y="3832098"/>
            <a:ext cx="153619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17" name="Text 61"/>
          <p:cNvSpPr txBox="1"/>
          <p:nvPr/>
        </p:nvSpPr>
        <p:spPr>
          <a:xfrm>
            <a:off x="7022592" y="4454574"/>
            <a:ext cx="153619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B2E32"/>
                </a:solidFill>
              </a:defRPr>
            </a:lvl1pPr>
          </a:lstStyle>
          <a:p>
            <a:pPr/>
            <a:r>
              <a:t>Trust Score</a:t>
            </a:r>
          </a:p>
        </p:txBody>
      </p:sp>
      <p:sp>
        <p:nvSpPr>
          <p:cNvPr id="218" name="Text 62"/>
          <p:cNvSpPr txBox="1"/>
          <p:nvPr/>
        </p:nvSpPr>
        <p:spPr>
          <a:xfrm>
            <a:off x="7022592" y="4791964"/>
            <a:ext cx="15361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B7A7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/api</a:t>
            </a:r>
          </a:p>
        </p:txBody>
      </p:sp>
      <p:sp>
        <p:nvSpPr>
          <p:cNvPr id="219" name="Shape 63"/>
          <p:cNvSpPr/>
          <p:nvPr/>
        </p:nvSpPr>
        <p:spPr>
          <a:xfrm>
            <a:off x="8641080" y="3465576"/>
            <a:ext cx="1536193" cy="1737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Shape 64"/>
          <p:cNvSpPr/>
          <p:nvPr/>
        </p:nvSpPr>
        <p:spPr>
          <a:xfrm>
            <a:off x="8641080" y="3465576"/>
            <a:ext cx="1536193" cy="73153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65"/>
          <p:cNvSpPr txBox="1"/>
          <p:nvPr/>
        </p:nvSpPr>
        <p:spPr>
          <a:xfrm>
            <a:off x="8641080" y="3832098"/>
            <a:ext cx="153619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2" name="Text 66"/>
          <p:cNvSpPr txBox="1"/>
          <p:nvPr/>
        </p:nvSpPr>
        <p:spPr>
          <a:xfrm>
            <a:off x="8641080" y="4454574"/>
            <a:ext cx="153619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B2E32"/>
                </a:solidFill>
              </a:defRPr>
            </a:lvl1pPr>
          </a:lstStyle>
          <a:p>
            <a:pPr/>
            <a:r>
              <a:t>Wishlist</a:t>
            </a:r>
          </a:p>
        </p:txBody>
      </p:sp>
      <p:sp>
        <p:nvSpPr>
          <p:cNvPr id="223" name="Text 67"/>
          <p:cNvSpPr txBox="1"/>
          <p:nvPr/>
        </p:nvSpPr>
        <p:spPr>
          <a:xfrm>
            <a:off x="8641080" y="4791964"/>
            <a:ext cx="15361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B7A7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/api/wishlist</a:t>
            </a:r>
          </a:p>
        </p:txBody>
      </p:sp>
      <p:sp>
        <p:nvSpPr>
          <p:cNvPr id="224" name="Shape 68"/>
          <p:cNvSpPr/>
          <p:nvPr/>
        </p:nvSpPr>
        <p:spPr>
          <a:xfrm>
            <a:off x="10259568" y="3465576"/>
            <a:ext cx="1536193" cy="17373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Shape 69"/>
          <p:cNvSpPr/>
          <p:nvPr/>
        </p:nvSpPr>
        <p:spPr>
          <a:xfrm>
            <a:off x="10259568" y="3465576"/>
            <a:ext cx="1536193" cy="73153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70"/>
          <p:cNvSpPr txBox="1"/>
          <p:nvPr/>
        </p:nvSpPr>
        <p:spPr>
          <a:xfrm>
            <a:off x="10259568" y="3832098"/>
            <a:ext cx="1536193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8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7" name="Text 71"/>
          <p:cNvSpPr txBox="1"/>
          <p:nvPr/>
        </p:nvSpPr>
        <p:spPr>
          <a:xfrm>
            <a:off x="10259568" y="4454574"/>
            <a:ext cx="1536193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B2E32"/>
                </a:solidFill>
              </a:defRPr>
            </a:lvl1pPr>
          </a:lstStyle>
          <a:p>
            <a:pPr/>
            <a:r>
              <a:t>System</a:t>
            </a:r>
          </a:p>
        </p:txBody>
      </p:sp>
      <p:sp>
        <p:nvSpPr>
          <p:cNvPr id="228" name="Text 72"/>
          <p:cNvSpPr txBox="1"/>
          <p:nvPr/>
        </p:nvSpPr>
        <p:spPr>
          <a:xfrm>
            <a:off x="10259568" y="4791964"/>
            <a:ext cx="15361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5B7A7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/api</a:t>
            </a:r>
          </a:p>
        </p:txBody>
      </p:sp>
      <p:sp>
        <p:nvSpPr>
          <p:cNvPr id="229" name="Text 73"/>
          <p:cNvSpPr txBox="1"/>
          <p:nvPr/>
        </p:nvSpPr>
        <p:spPr>
          <a:xfrm>
            <a:off x="548639" y="6105066"/>
            <a:ext cx="110642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B7A7D"/>
                </a:solidFill>
              </a:defRPr>
            </a:lvl1pPr>
          </a:lstStyle>
          <a:p>
            <a:pPr/>
            <a:r>
              <a:t>Every endpoint is fully wired to the React frontend and structured for scalable, serverless-ready deployment.</a:t>
            </a:r>
          </a:p>
        </p:txBody>
      </p:sp>
      <p:sp>
        <p:nvSpPr>
          <p:cNvPr id="230" name="Text 74"/>
          <p:cNvSpPr txBox="1"/>
          <p:nvPr/>
        </p:nvSpPr>
        <p:spPr>
          <a:xfrm>
            <a:off x="457200" y="6584188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7A7D"/>
                </a:solidFill>
              </a:defRPr>
            </a:lvl1pPr>
          </a:lstStyle>
          <a:p>
            <a:pPr/>
            <a:r>
              <a:t>Neighborhood Skill &amp; Tool Sharing Exchange</a:t>
            </a:r>
          </a:p>
        </p:txBody>
      </p:sp>
      <p:sp>
        <p:nvSpPr>
          <p:cNvPr id="231" name="Text 75"/>
          <p:cNvSpPr txBox="1"/>
          <p:nvPr/>
        </p:nvSpPr>
        <p:spPr>
          <a:xfrm>
            <a:off x="11429999" y="6584188"/>
            <a:ext cx="365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7A7D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0"/>
          <p:cNvSpPr/>
          <p:nvPr/>
        </p:nvSpPr>
        <p:spPr>
          <a:xfrm>
            <a:off x="548640" y="457200"/>
            <a:ext cx="2377440" cy="32918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1"/>
          <p:cNvSpPr txBox="1"/>
          <p:nvPr/>
        </p:nvSpPr>
        <p:spPr>
          <a:xfrm>
            <a:off x="548640" y="554658"/>
            <a:ext cx="23774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100">
                <a:solidFill>
                  <a:srgbClr val="FFFFFF"/>
                </a:solidFill>
              </a:defRPr>
            </a:lvl1pPr>
          </a:lstStyle>
          <a:p>
            <a:pPr/>
            <a:r>
              <a:t>KEY DIFFERENTIATORS</a:t>
            </a:r>
          </a:p>
        </p:txBody>
      </p:sp>
      <p:sp>
        <p:nvSpPr>
          <p:cNvPr id="235" name="Text 2"/>
          <p:cNvSpPr txBox="1"/>
          <p:nvPr/>
        </p:nvSpPr>
        <p:spPr>
          <a:xfrm>
            <a:off x="548640" y="992631"/>
            <a:ext cx="1088136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400">
                <a:solidFill>
                  <a:srgbClr val="0B2E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Solving Real Neighborhood Problems, Not Just Listings</a:t>
            </a:r>
          </a:p>
        </p:txBody>
      </p:sp>
      <p:sp>
        <p:nvSpPr>
          <p:cNvPr id="236" name="Shape 3"/>
          <p:cNvSpPr/>
          <p:nvPr/>
        </p:nvSpPr>
        <p:spPr>
          <a:xfrm>
            <a:off x="548640" y="1691639"/>
            <a:ext cx="5440680" cy="2148841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Shape 4"/>
          <p:cNvSpPr/>
          <p:nvPr/>
        </p:nvSpPr>
        <p:spPr>
          <a:xfrm>
            <a:off x="804671" y="1947671"/>
            <a:ext cx="502922" cy="502922"/>
          </a:xfrm>
          <a:prstGeom prst="ellipse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5"/>
          <p:cNvSpPr txBox="1"/>
          <p:nvPr/>
        </p:nvSpPr>
        <p:spPr>
          <a:xfrm>
            <a:off x="804672" y="2065781"/>
            <a:ext cx="50292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9" name="Text 6"/>
          <p:cNvSpPr txBox="1"/>
          <p:nvPr/>
        </p:nvSpPr>
        <p:spPr>
          <a:xfrm>
            <a:off x="1463040" y="2104452"/>
            <a:ext cx="425196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28090"/>
                </a:solidFill>
              </a:defRPr>
            </a:lvl1pPr>
          </a:lstStyle>
          <a:p>
            <a:pPr/>
            <a:r>
              <a:t>Escrow-Protected Rentals</a:t>
            </a:r>
          </a:p>
        </p:txBody>
      </p:sp>
      <p:sp>
        <p:nvSpPr>
          <p:cNvPr id="240" name="Text 7"/>
          <p:cNvSpPr txBox="1"/>
          <p:nvPr/>
        </p:nvSpPr>
        <p:spPr>
          <a:xfrm>
            <a:off x="804672" y="2606039"/>
            <a:ext cx="4928616" cy="326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0B2E32"/>
                </a:solidFill>
              </a:defRPr>
            </a:lvl1pPr>
          </a:lstStyle>
          <a:p>
            <a:pPr/>
            <a:r>
              <a:t>Razorpay-powered security deposits let neighbors safely lend high-value tools — deposits are claimable through the admin panel if items are damaged or not returned.</a:t>
            </a:r>
          </a:p>
        </p:txBody>
      </p:sp>
      <p:sp>
        <p:nvSpPr>
          <p:cNvPr id="241" name="Shape 8"/>
          <p:cNvSpPr/>
          <p:nvPr/>
        </p:nvSpPr>
        <p:spPr>
          <a:xfrm>
            <a:off x="6245352" y="1691639"/>
            <a:ext cx="5440681" cy="2148841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Shape 9"/>
          <p:cNvSpPr/>
          <p:nvPr/>
        </p:nvSpPr>
        <p:spPr>
          <a:xfrm>
            <a:off x="6501384" y="1947671"/>
            <a:ext cx="502921" cy="502922"/>
          </a:xfrm>
          <a:prstGeom prst="ellipse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10"/>
          <p:cNvSpPr txBox="1"/>
          <p:nvPr/>
        </p:nvSpPr>
        <p:spPr>
          <a:xfrm>
            <a:off x="6501384" y="2065781"/>
            <a:ext cx="50292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44" name="Text 11"/>
          <p:cNvSpPr txBox="1"/>
          <p:nvPr/>
        </p:nvSpPr>
        <p:spPr>
          <a:xfrm>
            <a:off x="7159752" y="2104452"/>
            <a:ext cx="4251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28090"/>
                </a:solidFill>
              </a:defRPr>
            </a:lvl1pPr>
          </a:lstStyle>
          <a:p>
            <a:pPr/>
            <a:r>
              <a:t>Unified Tool + Skill Marketplace</a:t>
            </a:r>
          </a:p>
        </p:txBody>
      </p:sp>
      <p:sp>
        <p:nvSpPr>
          <p:cNvPr id="245" name="Text 12"/>
          <p:cNvSpPr txBox="1"/>
          <p:nvPr/>
        </p:nvSpPr>
        <p:spPr>
          <a:xfrm>
            <a:off x="6501384" y="2606039"/>
            <a:ext cx="4928616" cy="326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0B2E32"/>
                </a:solidFill>
              </a:defRPr>
            </a:lvl1pPr>
          </a:lstStyle>
          <a:p>
            <a:pPr/>
            <a:r>
              <a:t>One platform for both physical items and human expertise — rent a lawnmower and hire someone to use it, in the same ecosystem.</a:t>
            </a:r>
          </a:p>
        </p:txBody>
      </p:sp>
      <p:sp>
        <p:nvSpPr>
          <p:cNvPr id="246" name="Shape 13"/>
          <p:cNvSpPr/>
          <p:nvPr/>
        </p:nvSpPr>
        <p:spPr>
          <a:xfrm>
            <a:off x="548640" y="4069079"/>
            <a:ext cx="5440680" cy="2148841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Shape 14"/>
          <p:cNvSpPr/>
          <p:nvPr/>
        </p:nvSpPr>
        <p:spPr>
          <a:xfrm>
            <a:off x="804671" y="4325111"/>
            <a:ext cx="502922" cy="502921"/>
          </a:xfrm>
          <a:prstGeom prst="ellipse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Text 15"/>
          <p:cNvSpPr txBox="1"/>
          <p:nvPr/>
        </p:nvSpPr>
        <p:spPr>
          <a:xfrm>
            <a:off x="804672" y="4443221"/>
            <a:ext cx="50292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49" name="Text 16"/>
          <p:cNvSpPr txBox="1"/>
          <p:nvPr/>
        </p:nvSpPr>
        <p:spPr>
          <a:xfrm>
            <a:off x="1463040" y="4481891"/>
            <a:ext cx="425196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28090"/>
                </a:solidFill>
              </a:defRPr>
            </a:lvl1pPr>
          </a:lstStyle>
          <a:p>
            <a:pPr/>
            <a:r>
              <a:t>Hyper-Local Verified Trust</a:t>
            </a:r>
          </a:p>
        </p:txBody>
      </p:sp>
      <p:sp>
        <p:nvSpPr>
          <p:cNvPr id="250" name="Text 17"/>
          <p:cNvSpPr txBox="1"/>
          <p:nvPr/>
        </p:nvSpPr>
        <p:spPr>
          <a:xfrm>
            <a:off x="804672" y="4983479"/>
            <a:ext cx="4928616" cy="326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0B2E32"/>
                </a:solidFill>
              </a:defRPr>
            </a:lvl1pPr>
          </a:lstStyle>
          <a:p>
            <a:pPr/>
            <a:r>
              <a:t>Neighborhood verification plus a proprietary Trust Score and review system replace anonymous, global freelance matching.</a:t>
            </a:r>
          </a:p>
        </p:txBody>
      </p:sp>
      <p:sp>
        <p:nvSpPr>
          <p:cNvPr id="251" name="Shape 18"/>
          <p:cNvSpPr/>
          <p:nvPr/>
        </p:nvSpPr>
        <p:spPr>
          <a:xfrm>
            <a:off x="6245352" y="4069079"/>
            <a:ext cx="5440681" cy="2148841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Shape 19"/>
          <p:cNvSpPr/>
          <p:nvPr/>
        </p:nvSpPr>
        <p:spPr>
          <a:xfrm>
            <a:off x="6501384" y="4325111"/>
            <a:ext cx="502921" cy="502921"/>
          </a:xfrm>
          <a:prstGeom prst="ellipse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20"/>
          <p:cNvSpPr txBox="1"/>
          <p:nvPr/>
        </p:nvSpPr>
        <p:spPr>
          <a:xfrm>
            <a:off x="6501384" y="4443221"/>
            <a:ext cx="50292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54" name="Text 21"/>
          <p:cNvSpPr txBox="1"/>
          <p:nvPr/>
        </p:nvSpPr>
        <p:spPr>
          <a:xfrm>
            <a:off x="7159752" y="4481891"/>
            <a:ext cx="425196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28090"/>
                </a:solidFill>
              </a:defRPr>
            </a:lvl1pPr>
          </a:lstStyle>
          <a:p>
            <a:pPr/>
            <a:r>
              <a:t>Privacy-First Coordination</a:t>
            </a:r>
          </a:p>
        </p:txBody>
      </p:sp>
      <p:sp>
        <p:nvSpPr>
          <p:cNvPr id="255" name="Text 22"/>
          <p:cNvSpPr txBox="1"/>
          <p:nvPr/>
        </p:nvSpPr>
        <p:spPr>
          <a:xfrm>
            <a:off x="6501384" y="4983479"/>
            <a:ext cx="4928616" cy="326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100">
                <a:solidFill>
                  <a:srgbClr val="0B2E32"/>
                </a:solidFill>
              </a:defRPr>
            </a:lvl1pPr>
          </a:lstStyle>
          <a:p>
            <a:pPr/>
            <a:r>
              <a:t>Real-time in-app chat via Socket.io means logistics are coordinated without ever exchanging personal phone numbers.</a:t>
            </a:r>
          </a:p>
        </p:txBody>
      </p:sp>
      <p:sp>
        <p:nvSpPr>
          <p:cNvPr id="256" name="Text 23"/>
          <p:cNvSpPr txBox="1"/>
          <p:nvPr/>
        </p:nvSpPr>
        <p:spPr>
          <a:xfrm>
            <a:off x="457200" y="6584188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7A7D"/>
                </a:solidFill>
              </a:defRPr>
            </a:lvl1pPr>
          </a:lstStyle>
          <a:p>
            <a:pPr/>
            <a:r>
              <a:t>Neighborhood Skill &amp; Tool Sharing Exchange</a:t>
            </a:r>
          </a:p>
        </p:txBody>
      </p:sp>
      <p:sp>
        <p:nvSpPr>
          <p:cNvPr id="257" name="Text 24"/>
          <p:cNvSpPr txBox="1"/>
          <p:nvPr/>
        </p:nvSpPr>
        <p:spPr>
          <a:xfrm>
            <a:off x="11429999" y="6584188"/>
            <a:ext cx="365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7A7D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0"/>
          <p:cNvSpPr/>
          <p:nvPr/>
        </p:nvSpPr>
        <p:spPr>
          <a:xfrm>
            <a:off x="548640" y="457200"/>
            <a:ext cx="2377440" cy="32918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Text 1"/>
          <p:cNvSpPr txBox="1"/>
          <p:nvPr/>
        </p:nvSpPr>
        <p:spPr>
          <a:xfrm>
            <a:off x="548640" y="554658"/>
            <a:ext cx="23774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100">
                <a:solidFill>
                  <a:srgbClr val="FFFFFF"/>
                </a:solidFill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61" name="Text 2"/>
          <p:cNvSpPr txBox="1"/>
          <p:nvPr/>
        </p:nvSpPr>
        <p:spPr>
          <a:xfrm>
            <a:off x="548640" y="979931"/>
            <a:ext cx="10515601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500">
                <a:solidFill>
                  <a:srgbClr val="0B2E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Results — Live Interface Walkthrough</a:t>
            </a:r>
          </a:p>
        </p:txBody>
      </p:sp>
      <p:sp>
        <p:nvSpPr>
          <p:cNvPr id="262" name="Shape 3"/>
          <p:cNvSpPr/>
          <p:nvPr/>
        </p:nvSpPr>
        <p:spPr>
          <a:xfrm>
            <a:off x="548640" y="1554480"/>
            <a:ext cx="3703321" cy="2743201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6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4359" y="1600200"/>
            <a:ext cx="3611881" cy="2331721"/>
          </a:xfrm>
          <a:prstGeom prst="rect">
            <a:avLst/>
          </a:prstGeom>
          <a:ln w="12700">
            <a:miter lim="400000"/>
          </a:ln>
        </p:spPr>
      </p:pic>
      <p:sp>
        <p:nvSpPr>
          <p:cNvPr id="264" name="Text 4"/>
          <p:cNvSpPr txBox="1"/>
          <p:nvPr/>
        </p:nvSpPr>
        <p:spPr>
          <a:xfrm>
            <a:off x="548639" y="4041692"/>
            <a:ext cx="37033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28090"/>
                </a:solidFill>
              </a:defRPr>
            </a:lvl1pPr>
          </a:lstStyle>
          <a:p>
            <a:pPr/>
            <a:r>
              <a:t>Homepage — Hero &amp; Stats</a:t>
            </a:r>
          </a:p>
        </p:txBody>
      </p:sp>
      <p:sp>
        <p:nvSpPr>
          <p:cNvPr id="265" name="Shape 5"/>
          <p:cNvSpPr/>
          <p:nvPr/>
        </p:nvSpPr>
        <p:spPr>
          <a:xfrm>
            <a:off x="4389120" y="1554480"/>
            <a:ext cx="3703321" cy="2743201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6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434840" y="1600200"/>
            <a:ext cx="3611881" cy="2331721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Text 6"/>
          <p:cNvSpPr txBox="1"/>
          <p:nvPr/>
        </p:nvSpPr>
        <p:spPr>
          <a:xfrm>
            <a:off x="4389120" y="4041692"/>
            <a:ext cx="37033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28090"/>
                </a:solidFill>
              </a:defRPr>
            </a:lvl1pPr>
          </a:lstStyle>
          <a:p>
            <a:pPr/>
            <a:r>
              <a:t>Authentication — Sign In</a:t>
            </a:r>
          </a:p>
        </p:txBody>
      </p:sp>
      <p:sp>
        <p:nvSpPr>
          <p:cNvPr id="268" name="Shape 7"/>
          <p:cNvSpPr/>
          <p:nvPr/>
        </p:nvSpPr>
        <p:spPr>
          <a:xfrm>
            <a:off x="8229600" y="1554480"/>
            <a:ext cx="3474721" cy="2743201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69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275319" y="1600200"/>
            <a:ext cx="3383281" cy="2331721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Text 8"/>
          <p:cNvSpPr txBox="1"/>
          <p:nvPr/>
        </p:nvSpPr>
        <p:spPr>
          <a:xfrm>
            <a:off x="8229599" y="4041692"/>
            <a:ext cx="34747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28090"/>
                </a:solidFill>
              </a:defRPr>
            </a:lvl1pPr>
          </a:lstStyle>
          <a:p>
            <a:pPr/>
            <a:r>
              <a:t>User Dashboard</a:t>
            </a:r>
          </a:p>
        </p:txBody>
      </p:sp>
      <p:sp>
        <p:nvSpPr>
          <p:cNvPr id="271" name="Shape 9"/>
          <p:cNvSpPr/>
          <p:nvPr/>
        </p:nvSpPr>
        <p:spPr>
          <a:xfrm>
            <a:off x="548640" y="4206240"/>
            <a:ext cx="3703321" cy="2377441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72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94359" y="4251959"/>
            <a:ext cx="3611881" cy="1965961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Text 10"/>
          <p:cNvSpPr txBox="1"/>
          <p:nvPr/>
        </p:nvSpPr>
        <p:spPr>
          <a:xfrm>
            <a:off x="548639" y="6327692"/>
            <a:ext cx="37033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028090"/>
                </a:solidFill>
              </a:defRPr>
            </a:lvl1pPr>
          </a:lstStyle>
          <a:p>
            <a:pPr/>
            <a:r>
              <a:t>Browse Tools Catalog</a:t>
            </a:r>
          </a:p>
        </p:txBody>
      </p:sp>
      <p:sp>
        <p:nvSpPr>
          <p:cNvPr id="274" name="Text 14"/>
          <p:cNvSpPr txBox="1"/>
          <p:nvPr/>
        </p:nvSpPr>
        <p:spPr>
          <a:xfrm>
            <a:off x="457200" y="6584188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7A7D"/>
                </a:solidFill>
              </a:defRPr>
            </a:lvl1pPr>
          </a:lstStyle>
          <a:p>
            <a:pPr/>
            <a:r>
              <a:t>Neighborhood Skill &amp; Tool Sharing Exchange</a:t>
            </a:r>
          </a:p>
        </p:txBody>
      </p:sp>
      <p:sp>
        <p:nvSpPr>
          <p:cNvPr id="275" name="Text 15"/>
          <p:cNvSpPr txBox="1"/>
          <p:nvPr/>
        </p:nvSpPr>
        <p:spPr>
          <a:xfrm>
            <a:off x="11429999" y="6584188"/>
            <a:ext cx="365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7A7D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548640" y="457200"/>
            <a:ext cx="2377440" cy="32918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Text 1"/>
          <p:cNvSpPr txBox="1"/>
          <p:nvPr/>
        </p:nvSpPr>
        <p:spPr>
          <a:xfrm>
            <a:off x="548640" y="554658"/>
            <a:ext cx="237744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100">
                <a:solidFill>
                  <a:srgbClr val="FFFFFF"/>
                </a:solidFill>
              </a:defRPr>
            </a:lvl1pPr>
          </a:lstStyle>
          <a:p>
            <a:pPr/>
            <a:r>
              <a:t>TEAM NEIGHBORSHARE</a:t>
            </a:r>
          </a:p>
        </p:txBody>
      </p:sp>
      <p:sp>
        <p:nvSpPr>
          <p:cNvPr id="279" name="Text 2"/>
          <p:cNvSpPr txBox="1"/>
          <p:nvPr/>
        </p:nvSpPr>
        <p:spPr>
          <a:xfrm>
            <a:off x="548640" y="967231"/>
            <a:ext cx="91440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700">
                <a:solidFill>
                  <a:srgbClr val="0B2E3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Team Contributions</a:t>
            </a:r>
          </a:p>
        </p:txBody>
      </p:sp>
      <p:sp>
        <p:nvSpPr>
          <p:cNvPr id="280" name="Shape 3"/>
          <p:cNvSpPr/>
          <p:nvPr/>
        </p:nvSpPr>
        <p:spPr>
          <a:xfrm>
            <a:off x="548640" y="1691639"/>
            <a:ext cx="6322645" cy="1024129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Shape 4"/>
          <p:cNvSpPr/>
          <p:nvPr/>
        </p:nvSpPr>
        <p:spPr>
          <a:xfrm>
            <a:off x="548640" y="1691639"/>
            <a:ext cx="128017" cy="1024129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Shape 5"/>
          <p:cNvSpPr/>
          <p:nvPr/>
        </p:nvSpPr>
        <p:spPr>
          <a:xfrm>
            <a:off x="868680" y="1929383"/>
            <a:ext cx="548641" cy="548641"/>
          </a:xfrm>
          <a:prstGeom prst="ellipse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3" name="Text 6"/>
          <p:cNvSpPr txBox="1"/>
          <p:nvPr/>
        </p:nvSpPr>
        <p:spPr>
          <a:xfrm>
            <a:off x="868680" y="2057653"/>
            <a:ext cx="54864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84" name="Text 7"/>
          <p:cNvSpPr txBox="1"/>
          <p:nvPr/>
        </p:nvSpPr>
        <p:spPr>
          <a:xfrm>
            <a:off x="1600199" y="1859718"/>
            <a:ext cx="30175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B2E32"/>
                </a:solidFill>
              </a:defRPr>
            </a:lvl1pPr>
          </a:lstStyle>
          <a:p>
            <a:pPr/>
            <a:r>
              <a:t>Saksham Shakya</a:t>
            </a:r>
          </a:p>
        </p:txBody>
      </p:sp>
      <p:sp>
        <p:nvSpPr>
          <p:cNvPr id="285" name="Text 9"/>
          <p:cNvSpPr txBox="1"/>
          <p:nvPr/>
        </p:nvSpPr>
        <p:spPr>
          <a:xfrm>
            <a:off x="4709159" y="2116127"/>
            <a:ext cx="28346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28090"/>
                </a:solidFill>
              </a:defRPr>
            </a:lvl1pPr>
          </a:lstStyle>
          <a:p>
            <a:pPr/>
            <a:r>
              <a:t>Authentication &amp; User Module</a:t>
            </a:r>
          </a:p>
        </p:txBody>
      </p:sp>
      <p:sp>
        <p:nvSpPr>
          <p:cNvPr id="286" name="Shape 11"/>
          <p:cNvSpPr/>
          <p:nvPr/>
        </p:nvSpPr>
        <p:spPr>
          <a:xfrm>
            <a:off x="548640" y="2862072"/>
            <a:ext cx="6322645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7" name="Shape 12"/>
          <p:cNvSpPr/>
          <p:nvPr/>
        </p:nvSpPr>
        <p:spPr>
          <a:xfrm>
            <a:off x="548640" y="2862072"/>
            <a:ext cx="128017" cy="1024128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Shape 13"/>
          <p:cNvSpPr/>
          <p:nvPr/>
        </p:nvSpPr>
        <p:spPr>
          <a:xfrm>
            <a:off x="868680" y="3099816"/>
            <a:ext cx="548641" cy="548641"/>
          </a:xfrm>
          <a:prstGeom prst="ellipse">
            <a:avLst/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Text 14"/>
          <p:cNvSpPr txBox="1"/>
          <p:nvPr/>
        </p:nvSpPr>
        <p:spPr>
          <a:xfrm>
            <a:off x="868680" y="3228086"/>
            <a:ext cx="54864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90" name="Text 15"/>
          <p:cNvSpPr txBox="1"/>
          <p:nvPr/>
        </p:nvSpPr>
        <p:spPr>
          <a:xfrm>
            <a:off x="1600199" y="3030151"/>
            <a:ext cx="301752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B2E32"/>
                </a:solidFill>
              </a:defRPr>
            </a:lvl1pPr>
          </a:lstStyle>
          <a:p>
            <a:pPr/>
            <a:r>
              <a:t>Ansh Bhatia</a:t>
            </a:r>
          </a:p>
        </p:txBody>
      </p:sp>
      <p:sp>
        <p:nvSpPr>
          <p:cNvPr id="291" name="Text 17"/>
          <p:cNvSpPr txBox="1"/>
          <p:nvPr/>
        </p:nvSpPr>
        <p:spPr>
          <a:xfrm>
            <a:off x="4709159" y="3286559"/>
            <a:ext cx="28346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28090"/>
                </a:solidFill>
              </a:defRPr>
            </a:lvl1pPr>
          </a:lstStyle>
          <a:p>
            <a:pPr/>
            <a:r>
              <a:t>Payments &amp; Admin Dashboard</a:t>
            </a:r>
          </a:p>
        </p:txBody>
      </p:sp>
      <p:sp>
        <p:nvSpPr>
          <p:cNvPr id="292" name="Shape 19"/>
          <p:cNvSpPr/>
          <p:nvPr/>
        </p:nvSpPr>
        <p:spPr>
          <a:xfrm>
            <a:off x="548640" y="4032503"/>
            <a:ext cx="6322645" cy="1024129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Shape 20"/>
          <p:cNvSpPr/>
          <p:nvPr/>
        </p:nvSpPr>
        <p:spPr>
          <a:xfrm>
            <a:off x="548640" y="4032503"/>
            <a:ext cx="128017" cy="1024129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Shape 21"/>
          <p:cNvSpPr/>
          <p:nvPr/>
        </p:nvSpPr>
        <p:spPr>
          <a:xfrm>
            <a:off x="868680" y="4270247"/>
            <a:ext cx="548641" cy="548641"/>
          </a:xfrm>
          <a:prstGeom prst="ellipse">
            <a:avLst/>
          </a:prstGeom>
          <a:solidFill>
            <a:srgbClr val="00A89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22"/>
          <p:cNvSpPr txBox="1"/>
          <p:nvPr/>
        </p:nvSpPr>
        <p:spPr>
          <a:xfrm>
            <a:off x="868680" y="4398517"/>
            <a:ext cx="54864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96" name="Text 23"/>
          <p:cNvSpPr txBox="1"/>
          <p:nvPr/>
        </p:nvSpPr>
        <p:spPr>
          <a:xfrm>
            <a:off x="1600199" y="4200583"/>
            <a:ext cx="301752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B2E32"/>
                </a:solidFill>
              </a:defRPr>
            </a:lvl1pPr>
          </a:lstStyle>
          <a:p>
            <a:pPr/>
            <a:r>
              <a:t>Rahul Rathod</a:t>
            </a:r>
          </a:p>
        </p:txBody>
      </p:sp>
      <p:sp>
        <p:nvSpPr>
          <p:cNvPr id="297" name="Text 25"/>
          <p:cNvSpPr txBox="1"/>
          <p:nvPr/>
        </p:nvSpPr>
        <p:spPr>
          <a:xfrm>
            <a:off x="4709159" y="4456991"/>
            <a:ext cx="28346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28090"/>
                </a:solidFill>
              </a:defRPr>
            </a:lvl1pPr>
          </a:lstStyle>
          <a:p>
            <a:pPr/>
            <a:r>
              <a:t>Real-Time Chat &amp; Notifications</a:t>
            </a:r>
          </a:p>
        </p:txBody>
      </p:sp>
      <p:sp>
        <p:nvSpPr>
          <p:cNvPr id="298" name="Shape 27"/>
          <p:cNvSpPr/>
          <p:nvPr/>
        </p:nvSpPr>
        <p:spPr>
          <a:xfrm>
            <a:off x="548640" y="5202935"/>
            <a:ext cx="6322645" cy="1024129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EE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Shape 28"/>
          <p:cNvSpPr/>
          <p:nvPr/>
        </p:nvSpPr>
        <p:spPr>
          <a:xfrm>
            <a:off x="548640" y="5202935"/>
            <a:ext cx="128017" cy="1024129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Shape 29"/>
          <p:cNvSpPr/>
          <p:nvPr/>
        </p:nvSpPr>
        <p:spPr>
          <a:xfrm>
            <a:off x="868680" y="5440679"/>
            <a:ext cx="548641" cy="548641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1" name="Text 30"/>
          <p:cNvSpPr txBox="1"/>
          <p:nvPr/>
        </p:nvSpPr>
        <p:spPr>
          <a:xfrm>
            <a:off x="868680" y="5568949"/>
            <a:ext cx="54864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02" name="Text 31"/>
          <p:cNvSpPr txBox="1"/>
          <p:nvPr/>
        </p:nvSpPr>
        <p:spPr>
          <a:xfrm>
            <a:off x="1600199" y="5371015"/>
            <a:ext cx="301752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B2E32"/>
                </a:solidFill>
              </a:defRPr>
            </a:lvl1pPr>
          </a:lstStyle>
          <a:p>
            <a:pPr/>
            <a:r>
              <a:t>Sujal Bhatia </a:t>
            </a:r>
          </a:p>
        </p:txBody>
      </p:sp>
      <p:sp>
        <p:nvSpPr>
          <p:cNvPr id="303" name="Text 33"/>
          <p:cNvSpPr txBox="1"/>
          <p:nvPr/>
        </p:nvSpPr>
        <p:spPr>
          <a:xfrm>
            <a:off x="4709159" y="5627423"/>
            <a:ext cx="283464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28090"/>
                </a:solidFill>
              </a:defRPr>
            </a:lvl1pPr>
          </a:lstStyle>
          <a:p>
            <a:pPr/>
            <a:r>
              <a:t>Booking module &amp; tool listing</a:t>
            </a:r>
          </a:p>
        </p:txBody>
      </p:sp>
      <p:sp>
        <p:nvSpPr>
          <p:cNvPr id="304" name="Text 35"/>
          <p:cNvSpPr txBox="1"/>
          <p:nvPr/>
        </p:nvSpPr>
        <p:spPr>
          <a:xfrm>
            <a:off x="457200" y="6584188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7A7D"/>
                </a:solidFill>
              </a:defRPr>
            </a:lvl1pPr>
          </a:lstStyle>
          <a:p>
            <a:pPr/>
            <a:r>
              <a:t>Neighborhood Skill &amp; Tool Sharing Exchange</a:t>
            </a:r>
          </a:p>
        </p:txBody>
      </p:sp>
      <p:sp>
        <p:nvSpPr>
          <p:cNvPr id="305" name="Text 36"/>
          <p:cNvSpPr txBox="1"/>
          <p:nvPr/>
        </p:nvSpPr>
        <p:spPr>
          <a:xfrm>
            <a:off x="11429999" y="6584188"/>
            <a:ext cx="365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5B7A7D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7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0"/>
          <p:cNvSpPr/>
          <p:nvPr/>
        </p:nvSpPr>
        <p:spPr>
          <a:xfrm>
            <a:off x="-1371600" y="-1645921"/>
            <a:ext cx="4572000" cy="4572001"/>
          </a:xfrm>
          <a:prstGeom prst="ellipse">
            <a:avLst/>
          </a:prstGeom>
          <a:solidFill>
            <a:srgbClr val="028090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Shape 1"/>
          <p:cNvSpPr/>
          <p:nvPr/>
        </p:nvSpPr>
        <p:spPr>
          <a:xfrm>
            <a:off x="10241280" y="4206240"/>
            <a:ext cx="3840481" cy="3840481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Text 2"/>
          <p:cNvSpPr txBox="1"/>
          <p:nvPr/>
        </p:nvSpPr>
        <p:spPr>
          <a:xfrm>
            <a:off x="640080" y="594360"/>
            <a:ext cx="548640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310" name="Text 3"/>
          <p:cNvSpPr txBox="1"/>
          <p:nvPr/>
        </p:nvSpPr>
        <p:spPr>
          <a:xfrm>
            <a:off x="640079" y="1234439"/>
            <a:ext cx="6309362" cy="2064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>
                <a:solidFill>
                  <a:srgbClr val="CFEDEA"/>
                </a:solidFill>
              </a:defRPr>
            </a:lvl1pPr>
          </a:lstStyle>
          <a:p>
            <a:pPr/>
            <a:r>
              <a:t>NeighborShare transforms high-risk, informal neighborhood borrowing into a formal, reliable, and sustainable localized micro-economy — combining escrow-protected payments, a unified tool &amp; skill marketplace, verified trust, private real-time chat, and automated booking lifecycle management on a single, scalable MERN foundation.</a:t>
            </a:r>
          </a:p>
        </p:txBody>
      </p:sp>
      <p:sp>
        <p:nvSpPr>
          <p:cNvPr id="311" name="Shape 4"/>
          <p:cNvSpPr/>
          <p:nvPr/>
        </p:nvSpPr>
        <p:spPr>
          <a:xfrm>
            <a:off x="640080" y="3794759"/>
            <a:ext cx="6309360" cy="1417321"/>
          </a:xfrm>
          <a:prstGeom prst="roundRect">
            <a:avLst>
              <a:gd name="adj" fmla="val 580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Text 5"/>
          <p:cNvSpPr txBox="1"/>
          <p:nvPr/>
        </p:nvSpPr>
        <p:spPr>
          <a:xfrm>
            <a:off x="914399" y="4000544"/>
            <a:ext cx="57607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02C39A"/>
                </a:solidFill>
              </a:defRPr>
            </a:lvl1pPr>
          </a:lstStyle>
          <a:p>
            <a:pPr/>
            <a:r>
              <a:t>GITHUB REPOSITORY</a:t>
            </a:r>
          </a:p>
        </p:txBody>
      </p:sp>
      <p:sp>
        <p:nvSpPr>
          <p:cNvPr id="313" name="Text 6">
            <a:hlinkClick r:id="rId2" invalidUrl="" action="" tgtFrame="" tooltip="" history="1" highlightClick="0" endSnd="0"/>
          </p:cNvPr>
          <p:cNvSpPr txBox="1"/>
          <p:nvPr/>
        </p:nvSpPr>
        <p:spPr>
          <a:xfrm>
            <a:off x="914399" y="4298187"/>
            <a:ext cx="576072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ourier New"/>
                <a:ea typeface="Courier New"/>
                <a:cs typeface="Courier New"/>
                <a:sym typeface="Courier New"/>
                <a:hlinkClick r:id="rId2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FFFFFF"/>
                </a:solidFill>
                <a:uFillTx/>
              </a:defRPr>
            </a:pPr>
            <a:r>
              <a: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github.com/sakshamshakya337/Neighbor-hood-SkillTool-Sharing-Exchange</a:t>
            </a:r>
          </a:p>
        </p:txBody>
      </p:sp>
      <p:sp>
        <p:nvSpPr>
          <p:cNvPr id="314" name="Text 7"/>
          <p:cNvSpPr txBox="1"/>
          <p:nvPr/>
        </p:nvSpPr>
        <p:spPr>
          <a:xfrm>
            <a:off x="914399" y="4765039"/>
            <a:ext cx="576072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FC9C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 clone https://github.com/sakshamshakya337/Neighbor-hood-SkillTool-Sharing-Exchange.git</a:t>
            </a:r>
          </a:p>
        </p:txBody>
      </p:sp>
      <p:sp>
        <p:nvSpPr>
          <p:cNvPr id="315" name="Shape 8"/>
          <p:cNvSpPr/>
          <p:nvPr/>
        </p:nvSpPr>
        <p:spPr>
          <a:xfrm>
            <a:off x="7406640" y="914400"/>
            <a:ext cx="2148841" cy="1280161"/>
          </a:xfrm>
          <a:prstGeom prst="roundRect">
            <a:avLst>
              <a:gd name="adj" fmla="val 6429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Text 9"/>
          <p:cNvSpPr txBox="1"/>
          <p:nvPr/>
        </p:nvSpPr>
        <p:spPr>
          <a:xfrm>
            <a:off x="7406640" y="1151890"/>
            <a:ext cx="214884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500+</a:t>
            </a:r>
          </a:p>
        </p:txBody>
      </p:sp>
      <p:sp>
        <p:nvSpPr>
          <p:cNvPr id="317" name="Text 10"/>
          <p:cNvSpPr txBox="1"/>
          <p:nvPr/>
        </p:nvSpPr>
        <p:spPr>
          <a:xfrm>
            <a:off x="7406640" y="1811019"/>
            <a:ext cx="2148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50" sz="900">
                <a:solidFill>
                  <a:srgbClr val="FFFFFF"/>
                </a:solidFill>
              </a:defRPr>
            </a:lvl1pPr>
          </a:lstStyle>
          <a:p>
            <a:pPr/>
            <a:r>
              <a:t>NEIGHBORS JOINED</a:t>
            </a:r>
          </a:p>
        </p:txBody>
      </p:sp>
      <p:sp>
        <p:nvSpPr>
          <p:cNvPr id="318" name="Shape 11"/>
          <p:cNvSpPr/>
          <p:nvPr/>
        </p:nvSpPr>
        <p:spPr>
          <a:xfrm>
            <a:off x="9738359" y="914400"/>
            <a:ext cx="2148841" cy="1280161"/>
          </a:xfrm>
          <a:prstGeom prst="roundRect">
            <a:avLst>
              <a:gd name="adj" fmla="val 6429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 12"/>
          <p:cNvSpPr txBox="1"/>
          <p:nvPr/>
        </p:nvSpPr>
        <p:spPr>
          <a:xfrm>
            <a:off x="9738359" y="1151890"/>
            <a:ext cx="214884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200+</a:t>
            </a:r>
          </a:p>
        </p:txBody>
      </p:sp>
      <p:sp>
        <p:nvSpPr>
          <p:cNvPr id="320" name="Text 13"/>
          <p:cNvSpPr txBox="1"/>
          <p:nvPr/>
        </p:nvSpPr>
        <p:spPr>
          <a:xfrm>
            <a:off x="9738359" y="1811019"/>
            <a:ext cx="2148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50" sz="900">
                <a:solidFill>
                  <a:srgbClr val="FFFFFF"/>
                </a:solidFill>
              </a:defRPr>
            </a:lvl1pPr>
          </a:lstStyle>
          <a:p>
            <a:pPr/>
            <a:r>
              <a:t>TOOLS SHARED</a:t>
            </a:r>
          </a:p>
        </p:txBody>
      </p:sp>
      <p:sp>
        <p:nvSpPr>
          <p:cNvPr id="321" name="Shape 14"/>
          <p:cNvSpPr/>
          <p:nvPr/>
        </p:nvSpPr>
        <p:spPr>
          <a:xfrm>
            <a:off x="7406640" y="2468879"/>
            <a:ext cx="2148841" cy="1280161"/>
          </a:xfrm>
          <a:prstGeom prst="roundRect">
            <a:avLst>
              <a:gd name="adj" fmla="val 6429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Text 15"/>
          <p:cNvSpPr txBox="1"/>
          <p:nvPr/>
        </p:nvSpPr>
        <p:spPr>
          <a:xfrm>
            <a:off x="7406640" y="2706369"/>
            <a:ext cx="214884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50</a:t>
            </a:r>
          </a:p>
        </p:txBody>
      </p:sp>
      <p:sp>
        <p:nvSpPr>
          <p:cNvPr id="323" name="Text 16"/>
          <p:cNvSpPr txBox="1"/>
          <p:nvPr/>
        </p:nvSpPr>
        <p:spPr>
          <a:xfrm>
            <a:off x="7406640" y="3365500"/>
            <a:ext cx="2148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50" sz="900">
                <a:solidFill>
                  <a:srgbClr val="FFFFFF"/>
                </a:solidFill>
              </a:defRPr>
            </a:lvl1pPr>
          </a:lstStyle>
          <a:p>
            <a:pPr/>
            <a:r>
              <a:t>SKILLS TAUGHT</a:t>
            </a:r>
          </a:p>
        </p:txBody>
      </p:sp>
      <p:sp>
        <p:nvSpPr>
          <p:cNvPr id="324" name="Shape 17"/>
          <p:cNvSpPr/>
          <p:nvPr/>
        </p:nvSpPr>
        <p:spPr>
          <a:xfrm>
            <a:off x="9738359" y="2468879"/>
            <a:ext cx="2148841" cy="1280161"/>
          </a:xfrm>
          <a:prstGeom prst="roundRect">
            <a:avLst>
              <a:gd name="adj" fmla="val 6429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5" name="Text 18"/>
          <p:cNvSpPr txBox="1"/>
          <p:nvPr/>
        </p:nvSpPr>
        <p:spPr>
          <a:xfrm>
            <a:off x="9738359" y="2706369"/>
            <a:ext cx="214884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6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68</a:t>
            </a:r>
          </a:p>
        </p:txBody>
      </p:sp>
      <p:sp>
        <p:nvSpPr>
          <p:cNvPr id="326" name="Text 19"/>
          <p:cNvSpPr txBox="1"/>
          <p:nvPr/>
        </p:nvSpPr>
        <p:spPr>
          <a:xfrm>
            <a:off x="9738359" y="3365500"/>
            <a:ext cx="21488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pc="50" sz="900">
                <a:solidFill>
                  <a:srgbClr val="FFFFFF"/>
                </a:solidFill>
              </a:defRPr>
            </a:lvl1pPr>
          </a:lstStyle>
          <a:p>
            <a:pPr/>
            <a:r>
              <a:t>APIS BUILT</a:t>
            </a:r>
          </a:p>
        </p:txBody>
      </p:sp>
      <p:sp>
        <p:nvSpPr>
          <p:cNvPr id="327" name="Text 20"/>
          <p:cNvSpPr txBox="1"/>
          <p:nvPr/>
        </p:nvSpPr>
        <p:spPr>
          <a:xfrm>
            <a:off x="7406640" y="4315460"/>
            <a:ext cx="41148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328" name="Text 21"/>
          <p:cNvSpPr txBox="1"/>
          <p:nvPr/>
        </p:nvSpPr>
        <p:spPr>
          <a:xfrm>
            <a:off x="7406640" y="4870626"/>
            <a:ext cx="42062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9FC9C5"/>
                </a:solidFill>
              </a:defRPr>
            </a:lvl1pPr>
          </a:lstStyle>
          <a:p>
            <a:pPr/>
            <a:r>
              <a:t>Team NeighborShare · School of Computer Application, LPU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